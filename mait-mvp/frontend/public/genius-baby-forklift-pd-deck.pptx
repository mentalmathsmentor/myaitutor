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25"/>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notesMaster" Target="notesMasters/notesMaster1.xml" /><Relationship Id="rId21" Type="http://schemas.openxmlformats.org/officeDocument/2006/relationships/presProps" Target="presProps.xml" /><Relationship Id="rId22" Type="http://schemas.openxmlformats.org/officeDocument/2006/relationships/viewProps" Target="viewProps.xml" /><Relationship Id="rId23" Type="http://schemas.openxmlformats.org/officeDocument/2006/relationships/theme" Target="theme/theme1.xml" /><Relationship Id="rId24" Type="http://schemas.openxmlformats.org/officeDocument/2006/relationships/tableStyles" Target="tableStyles.xml" /><Relationship Id="rId25" Type="http://schemas.openxmlformats.org/officeDocument/2006/relationships/slide" Target="slides/slide1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picture, not the theory. The joke is the whole model: what we've been handed is something with an enormous amount of knowledge and no life experience, no stake in the outcome, and no idea which of the things in this room is a legal document. Fifteen minutes, four stages, and everyone leaves with one thing to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not a tools demo, it's a judgement session. Nobody is being asked to use AI. People who never open Copilot again should still leave knowing what their colleagues are pasting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on this slide. The single biggest misconception in staffrooms is that the thing is either magic or rubbish. It is neither: it is extraordinarily capable at language and completely empty of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Ask the room for one thing from the left column they'd want back this term — that buys you the attention for the right column. Then land the right column hard: fluency is not a quality signal. Teachers read confident prose as competent prose, and this thing has no mechanism for sounding unsure. Pause on the 0% — it's the single line most likely to change how someone reads an output this week.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Distinction worth making out loud: the chatbox didn't add intelligence, it added leverage and speed. Leverage amplifies whatever you bring to it — including bad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what is NOT on this list: deciding an adjustment, writing an assessment judgement, or anything that involves a real child's records. Those come up in the crash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It reframes the tool from content generator to thinking partner, and it's the safest possible use because there's no real student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tone light here — the humour buys you the attention for the privacy content. Nobody in the room is a villain; everyone is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these three have you already seen happen — here or anywhere? Usually someone volunteers an accuracy crash. That opens the door to the judgement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you present: confirm the school's current AI-use policy and approved-tool list — that guidance moves, so verify it rather than trusting this slide. The legal point to land is that non-government schools sit under the federal Privacy Act and the Australian Privacy Principles. NSW public schools are the other way round — PPIPA, plus HRIPA for allied-health reports — so if anyone in the room has come from the public system, say that out loud so they don't apply the wrong instrument. Allied-health reports are health information either way, which is the highest bar of all. Don't improvise beyond this: if you're asked something you can't answer, say you'll check with the privacy lead.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guardrails are not compliance theatre, they're what makes fast use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combination point is the one people miss. Removing the name is not de-identification in a small school where there's exactly one Year 5 student with that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Get them to say C.O.R.E. out loud once — the mnemonic is doing the work here, not the detail. If you only have time to labour two letters, do R and E: assigning a role and giving one worked example are the two techniques that move the answer most, and they're the two everyone skips. C is where the privacy discipline lives — 'never a name' is part of the scaffold itself, not a separate rule to remember later.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good prompt aloud — it sounds like how you'd brief a new TA. That's the mental model: brief it like a capable stranger who has never met your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three surprises people. Models routinely fill in a plausible name when you've de-identified, and that name then travels into a real ILP.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Don't paraphrase. This is the slide people photograph, so make sure it matches your school's own policy wording before you present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line and stop. Don't add a Q&amp;A slide — take questions on this one so the sentence stays on the screen the whole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that this slide exists because it will happen to someone in this room. The goal is to make same-day reporting feel routine rather than career-ending — the cover-up is always worse than the paste. Do not improvise the reporting chain: name your actual principal and privacy contact here before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E21"/>
        </a:solidFill>
      </p:bgPr>
    </p:bg>
    <p:spTree>
      <p:nvGrpSpPr>
        <p:cNvPr id="1" name=""/>
        <p:cNvGrpSpPr/>
        <p:nvPr/>
      </p:nvGrpSpPr>
      <p:grpSpPr>
        <a:xfrm>
          <a:off x="0" y="0"/>
          <a:ext cx="0" cy="0"/>
          <a:chOff x="0" y="0"/>
          <a:chExt cx="0" cy="0"/>
        </a:xfrm>
      </p:grpSpPr>
      <p:pic>
        <p:nvPicPr>
          <p:cNvPr id="6" name="Picture 5" descr="image_a_genius_toddler.png"/>
          <p:cNvPicPr>
            <a:picLocks noChangeAspect="1"/>
          </p:cNvPicPr>
          <p:nvPr/>
        </p:nvPicPr>
        <p:blipFill>
          <a:blip r:embed="rId3"/>
          <a:stretch>
            <a:fillRect/>
          </a:stretch>
        </p:blipFill>
        <p:spPr>
          <a:xfrm>
            <a:off x="6888449" y="0"/>
            <a:ext cx="5303520" cy="6858000"/>
          </a:xfrm>
          <a:prstGeom prst="rect">
            <a:avLst/>
          </a:prstGeom>
        </p:spPr>
      </p:pic>
      <p:sp>
        <p:nvSpPr>
          <p:cNvPr id="2" name="Text 0"/>
          <p:cNvSpPr/>
          <p:nvPr/>
        </p:nvSpPr>
        <p:spPr>
          <a:xfrm>
            <a:off x="822960" y="1143000"/>
            <a:ext cx="5669280" cy="274320"/>
          </a:xfrm>
          <a:prstGeom prst="rect">
            <a:avLst/>
          </a:prstGeom>
          <a:noFill/>
          <a:ln/>
        </p:spPr>
        <p:txBody>
          <a:bodyPr wrap="square" lIns="0" tIns="0" rIns="0" bIns="0" rtlCol="0" anchor="ctr"/>
          <a:lstStyle/>
          <a:p>
            <a:pPr indent="0" marL="0">
              <a:buNone/>
            </a:pPr>
            <a:r>
              <a:rPr lang="en-US" sz="1100" b="1" spc="200" kern="0" dirty="0">
                <a:solidFill>
                  <a:srgbClr val="F5C518"/>
                </a:solidFill>
                <a:latin typeface="Arial" pitchFamily="34" charset="0"/>
                <a:ea typeface="Arial" pitchFamily="34" charset="-122"/>
                <a:cs typeface="Arial" pitchFamily="34" charset="-120"/>
              </a:rPr>
              <a:t>STAFF PD  ·  LEARNING SUPPORT  ·  ABOUT 15 MINUTES</a:t>
            </a:r>
            <a:endParaRPr lang="en-US" sz="1100" dirty="0"/>
          </a:p>
        </p:txBody>
      </p:sp>
      <p:sp>
        <p:nvSpPr>
          <p:cNvPr id="3" name="Text 1"/>
          <p:cNvSpPr/>
          <p:nvPr/>
        </p:nvSpPr>
        <p:spPr>
          <a:xfrm>
            <a:off x="822960" y="1691640"/>
            <a:ext cx="5760720" cy="2651760"/>
          </a:xfrm>
          <a:prstGeom prst="rect">
            <a:avLst/>
          </a:prstGeom>
          <a:noFill/>
          <a:ln/>
        </p:spPr>
        <p:txBody>
          <a:bodyPr wrap="square" lIns="0" tIns="0" rIns="0" bIns="0" rtlCol="0" anchor="t"/>
          <a:lstStyle/>
          <a:p>
            <a:pPr indent="0" marL="0">
              <a:lnSpc>
                <a:spcPct val="108000"/>
              </a:lnSpc>
              <a:buNone/>
            </a:pPr>
            <a:r>
              <a:rPr lang="en-US" sz="4000" b="1" dirty="0">
                <a:solidFill>
                  <a:srgbClr val="FFFFFF"/>
                </a:solidFill>
                <a:latin typeface="Arial" pitchFamily="34" charset="0"/>
                <a:ea typeface="Arial" pitchFamily="34" charset="-122"/>
                <a:cs typeface="Arial" pitchFamily="34" charset="-120"/>
              </a:rPr>
              <a:t>There's a genius baby driving your forklift.</a:t>
            </a:r>
            <a:endParaRPr lang="en-US" sz="4000" dirty="0"/>
          </a:p>
        </p:txBody>
      </p:sp>
      <p:sp>
        <p:nvSpPr>
          <p:cNvPr id="4" name="Text 2"/>
          <p:cNvSpPr/>
          <p:nvPr/>
        </p:nvSpPr>
        <p:spPr>
          <a:xfrm>
            <a:off x="822960" y="4343400"/>
            <a:ext cx="5577840" cy="1097280"/>
          </a:xfrm>
          <a:prstGeom prst="rect">
            <a:avLst/>
          </a:prstGeom>
          <a:noFill/>
          <a:ln/>
        </p:spPr>
        <p:txBody>
          <a:bodyPr wrap="square" lIns="0" tIns="0" rIns="0" bIns="0" rtlCol="0" anchor="t"/>
          <a:lstStyle/>
          <a:p>
            <a:pPr indent="0" marL="0">
              <a:lnSpc>
                <a:spcPct val="130000"/>
              </a:lnSpc>
              <a:buNone/>
            </a:pPr>
            <a:r>
              <a:rPr lang="en-US" sz="1550" dirty="0">
                <a:solidFill>
                  <a:srgbClr val="9AA0A6"/>
                </a:solidFill>
                <a:latin typeface="Calibri" pitchFamily="34" charset="0"/>
                <a:ea typeface="Calibri" pitchFamily="34" charset="-122"/>
                <a:cs typeface="Calibri" pitchFamily="34" charset="-120"/>
              </a:rPr>
              <a:t>How to get real work out of Copilot Chat — without putting a student, a report, or your professional judgement in the path of it.</a:t>
            </a:r>
            <a:endParaRPr lang="en-US" sz="1550" dirty="0"/>
          </a:p>
        </p:txBody>
      </p:sp>
      <p:sp>
        <p:nvSpPr>
          <p:cNvPr id="5" name="Text 3"/>
          <p:cNvSpPr/>
          <p:nvPr/>
        </p:nvSpPr>
        <p:spPr>
          <a:xfrm>
            <a:off x="822960" y="5577840"/>
            <a:ext cx="5669280" cy="320040"/>
          </a:xfrm>
          <a:prstGeom prst="rect">
            <a:avLst/>
          </a:prstGeom>
          <a:noFill/>
          <a:ln/>
        </p:spPr>
        <p:txBody>
          <a:bodyPr wrap="square" lIns="0" tIns="0" rIns="0" bIns="0" rtlCol="0" anchor="ctr"/>
          <a:lstStyle/>
          <a:p>
            <a:pPr indent="0" marL="0">
              <a:buNone/>
            </a:pPr>
            <a:r>
              <a:rPr lang="en-US" sz="1200" b="1" spc="100" kern="0" dirty="0">
                <a:solidFill>
                  <a:srgbClr val="F5C518"/>
                </a:solidFill>
                <a:latin typeface="Arial" pitchFamily="34" charset="0"/>
                <a:ea typeface="Arial" pitchFamily="34" charset="-122"/>
                <a:cs typeface="Arial" pitchFamily="34" charset="-120"/>
              </a:rPr>
              <a:t>The baby  ·  The forklift  ·  The crash  ·  The brakes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THE RUN SHEET</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Four stages. Fifteen minutes. One thing to try.</a:t>
            </a:r>
            <a:endParaRPr lang="en-US" sz="3300" dirty="0"/>
          </a:p>
        </p:txBody>
      </p:sp>
      <p:sp>
        <p:nvSpPr>
          <p:cNvPr id="4" name="Shape 2"/>
          <p:cNvSpPr/>
          <p:nvPr/>
        </p:nvSpPr>
        <p:spPr>
          <a:xfrm>
            <a:off x="640080" y="1783080"/>
            <a:ext cx="2480310" cy="3200400"/>
          </a:xfrm>
          <a:prstGeom prst="roundRect">
            <a:avLst>
              <a:gd name="adj" fmla="val 3687"/>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5" name="Shape 3"/>
          <p:cNvSpPr/>
          <p:nvPr/>
        </p:nvSpPr>
        <p:spPr>
          <a:xfrm>
            <a:off x="932688" y="2057400"/>
            <a:ext cx="566928" cy="566928"/>
          </a:xfrm>
          <a:prstGeom prst="ellipse">
            <a:avLst/>
          </a:prstGeom>
          <a:solidFill>
            <a:srgbClr val="F5C518"/>
          </a:solidFill>
          <a:ln/>
        </p:spPr>
        <p:txBody>
          <a:bodyPr/>
          <a:p/>
        </p:txBody>
      </p:sp>
      <p:sp>
        <p:nvSpPr>
          <p:cNvPr id="6" name="Text 4"/>
          <p:cNvSpPr/>
          <p:nvPr/>
        </p:nvSpPr>
        <p:spPr>
          <a:xfrm>
            <a:off x="932688" y="2057400"/>
            <a:ext cx="566928" cy="56692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01</a:t>
            </a:r>
            <a:endParaRPr lang="en-US" sz="1800" dirty="0"/>
          </a:p>
        </p:txBody>
      </p:sp>
      <p:sp>
        <p:nvSpPr>
          <p:cNvPr id="7" name="Text 5"/>
          <p:cNvSpPr/>
          <p:nvPr/>
        </p:nvSpPr>
        <p:spPr>
          <a:xfrm>
            <a:off x="932688" y="2788920"/>
            <a:ext cx="1895094" cy="320040"/>
          </a:xfrm>
          <a:prstGeom prst="rect">
            <a:avLst/>
          </a:prstGeom>
          <a:noFill/>
          <a:ln/>
        </p:spPr>
        <p:txBody>
          <a:bodyPr wrap="square" lIns="0" tIns="0" rIns="0" bIns="0" rtlCol="0" anchor="ctr"/>
          <a:lstStyle/>
          <a:p>
            <a:pPr indent="0" marL="0">
              <a:buNone/>
            </a:pPr>
            <a:r>
              <a:rPr lang="en-US" sz="1500" b="1" dirty="0">
                <a:solidFill>
                  <a:srgbClr val="1C1E21"/>
                </a:solidFill>
                <a:latin typeface="Arial" pitchFamily="34" charset="0"/>
                <a:ea typeface="Arial" pitchFamily="34" charset="-122"/>
                <a:cs typeface="Arial" pitchFamily="34" charset="-120"/>
              </a:rPr>
              <a:t>THE BABY</a:t>
            </a:r>
            <a:endParaRPr lang="en-US" sz="1500" dirty="0"/>
          </a:p>
        </p:txBody>
      </p:sp>
      <p:sp>
        <p:nvSpPr>
          <p:cNvPr id="8" name="Text 6"/>
          <p:cNvSpPr/>
          <p:nvPr/>
        </p:nvSpPr>
        <p:spPr>
          <a:xfrm>
            <a:off x="932688" y="3182112"/>
            <a:ext cx="1895094" cy="1234440"/>
          </a:xfrm>
          <a:prstGeom prst="rect">
            <a:avLst/>
          </a:prstGeom>
          <a:noFill/>
          <a:ln/>
        </p:spPr>
        <p:txBody>
          <a:bodyPr wrap="square" lIns="0" tIns="0" rIns="0" bIns="0" rtlCol="0" anchor="t"/>
          <a:lstStyle/>
          <a:p>
            <a:pPr indent="0" marL="0">
              <a:lnSpc>
                <a:spcPct val="125000"/>
              </a:lnSpc>
              <a:buNone/>
            </a:pPr>
            <a:r>
              <a:rPr lang="en-US" sz="1350" dirty="0">
                <a:solidFill>
                  <a:srgbClr val="45484C"/>
                </a:solidFill>
                <a:latin typeface="Calibri" pitchFamily="34" charset="0"/>
                <a:ea typeface="Calibri" pitchFamily="34" charset="-122"/>
                <a:cs typeface="Calibri" pitchFamily="34" charset="-120"/>
              </a:rPr>
              <a:t>What this thing actually is — and why it sounds so certain about everything.</a:t>
            </a:r>
            <a:endParaRPr lang="en-US" sz="1350" dirty="0"/>
          </a:p>
        </p:txBody>
      </p:sp>
      <p:sp>
        <p:nvSpPr>
          <p:cNvPr id="9" name="Text 7"/>
          <p:cNvSpPr/>
          <p:nvPr/>
        </p:nvSpPr>
        <p:spPr>
          <a:xfrm>
            <a:off x="932688" y="4480560"/>
            <a:ext cx="1895094" cy="274320"/>
          </a:xfrm>
          <a:prstGeom prst="rect">
            <a:avLst/>
          </a:prstGeom>
          <a:noFill/>
          <a:ln/>
        </p:spPr>
        <p:txBody>
          <a:bodyPr wrap="square" lIns="0" tIns="0" rIns="0" bIns="0" rtlCol="0" anchor="ctr"/>
          <a:lstStyle/>
          <a:p>
            <a:pPr indent="0" marL="0">
              <a:buNone/>
            </a:pPr>
            <a:r>
              <a:rPr lang="en-US" sz="1100" b="1" spc="100" kern="0" dirty="0">
                <a:solidFill>
                  <a:srgbClr val="6B7075"/>
                </a:solidFill>
                <a:latin typeface="Arial" pitchFamily="34" charset="0"/>
                <a:ea typeface="Arial" pitchFamily="34" charset="-122"/>
                <a:cs typeface="Arial" pitchFamily="34" charset="-120"/>
              </a:rPr>
              <a:t>3 min</a:t>
            </a:r>
            <a:endParaRPr lang="en-US" sz="1100" dirty="0"/>
          </a:p>
        </p:txBody>
      </p:sp>
      <p:sp>
        <p:nvSpPr>
          <p:cNvPr id="10" name="Shape 8"/>
          <p:cNvSpPr/>
          <p:nvPr/>
        </p:nvSpPr>
        <p:spPr>
          <a:xfrm>
            <a:off x="3449574" y="1783080"/>
            <a:ext cx="2480310" cy="3200400"/>
          </a:xfrm>
          <a:prstGeom prst="roundRect">
            <a:avLst>
              <a:gd name="adj" fmla="val 3687"/>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1" name="Shape 9"/>
          <p:cNvSpPr/>
          <p:nvPr/>
        </p:nvSpPr>
        <p:spPr>
          <a:xfrm>
            <a:off x="3742182" y="2057400"/>
            <a:ext cx="566928" cy="566928"/>
          </a:xfrm>
          <a:prstGeom prst="ellipse">
            <a:avLst/>
          </a:prstGeom>
          <a:solidFill>
            <a:srgbClr val="F5C518"/>
          </a:solidFill>
          <a:ln/>
        </p:spPr>
        <p:txBody>
          <a:bodyPr/>
          <a:p/>
        </p:txBody>
      </p:sp>
      <p:sp>
        <p:nvSpPr>
          <p:cNvPr id="12" name="Text 10"/>
          <p:cNvSpPr/>
          <p:nvPr/>
        </p:nvSpPr>
        <p:spPr>
          <a:xfrm>
            <a:off x="3742182" y="2057400"/>
            <a:ext cx="566928" cy="56692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02</a:t>
            </a:r>
            <a:endParaRPr lang="en-US" sz="1800" dirty="0"/>
          </a:p>
        </p:txBody>
      </p:sp>
      <p:sp>
        <p:nvSpPr>
          <p:cNvPr id="13" name="Text 11"/>
          <p:cNvSpPr/>
          <p:nvPr/>
        </p:nvSpPr>
        <p:spPr>
          <a:xfrm>
            <a:off x="3742182" y="2788920"/>
            <a:ext cx="1895094" cy="320040"/>
          </a:xfrm>
          <a:prstGeom prst="rect">
            <a:avLst/>
          </a:prstGeom>
          <a:noFill/>
          <a:ln/>
        </p:spPr>
        <p:txBody>
          <a:bodyPr wrap="square" lIns="0" tIns="0" rIns="0" bIns="0" rtlCol="0" anchor="ctr"/>
          <a:lstStyle/>
          <a:p>
            <a:pPr indent="0" marL="0">
              <a:buNone/>
            </a:pPr>
            <a:r>
              <a:rPr lang="en-US" sz="1500" b="1" dirty="0">
                <a:solidFill>
                  <a:srgbClr val="1C1E21"/>
                </a:solidFill>
                <a:latin typeface="Arial" pitchFamily="34" charset="0"/>
                <a:ea typeface="Arial" pitchFamily="34" charset="-122"/>
                <a:cs typeface="Arial" pitchFamily="34" charset="-120"/>
              </a:rPr>
              <a:t>THE FORKLIFT</a:t>
            </a:r>
            <a:endParaRPr lang="en-US" sz="1500" dirty="0"/>
          </a:p>
        </p:txBody>
      </p:sp>
      <p:sp>
        <p:nvSpPr>
          <p:cNvPr id="14" name="Text 12"/>
          <p:cNvSpPr/>
          <p:nvPr/>
        </p:nvSpPr>
        <p:spPr>
          <a:xfrm>
            <a:off x="3742182" y="3182112"/>
            <a:ext cx="1895094" cy="1234440"/>
          </a:xfrm>
          <a:prstGeom prst="rect">
            <a:avLst/>
          </a:prstGeom>
          <a:noFill/>
          <a:ln/>
        </p:spPr>
        <p:txBody>
          <a:bodyPr wrap="square" lIns="0" tIns="0" rIns="0" bIns="0" rtlCol="0" anchor="t"/>
          <a:lstStyle/>
          <a:p>
            <a:pPr indent="0" marL="0">
              <a:lnSpc>
                <a:spcPct val="125000"/>
              </a:lnSpc>
              <a:buNone/>
            </a:pPr>
            <a:r>
              <a:rPr lang="en-US" sz="1350" dirty="0">
                <a:solidFill>
                  <a:srgbClr val="45484C"/>
                </a:solidFill>
                <a:latin typeface="Calibri" pitchFamily="34" charset="0"/>
                <a:ea typeface="Calibri" pitchFamily="34" charset="-122"/>
                <a:cs typeface="Calibri" pitchFamily="34" charset="-120"/>
              </a:rPr>
              <a:t>What a chatbox lets it lift for you, and the loads actually worth lifting.</a:t>
            </a:r>
            <a:endParaRPr lang="en-US" sz="1350" dirty="0"/>
          </a:p>
        </p:txBody>
      </p:sp>
      <p:sp>
        <p:nvSpPr>
          <p:cNvPr id="15" name="Text 13"/>
          <p:cNvSpPr/>
          <p:nvPr/>
        </p:nvSpPr>
        <p:spPr>
          <a:xfrm>
            <a:off x="3742182" y="4480560"/>
            <a:ext cx="1895094" cy="274320"/>
          </a:xfrm>
          <a:prstGeom prst="rect">
            <a:avLst/>
          </a:prstGeom>
          <a:noFill/>
          <a:ln/>
        </p:spPr>
        <p:txBody>
          <a:bodyPr wrap="square" lIns="0" tIns="0" rIns="0" bIns="0" rtlCol="0" anchor="ctr"/>
          <a:lstStyle/>
          <a:p>
            <a:pPr indent="0" marL="0">
              <a:buNone/>
            </a:pPr>
            <a:r>
              <a:rPr lang="en-US" sz="1100" b="1" spc="100" kern="0" dirty="0">
                <a:solidFill>
                  <a:srgbClr val="6B7075"/>
                </a:solidFill>
                <a:latin typeface="Arial" pitchFamily="34" charset="0"/>
                <a:ea typeface="Arial" pitchFamily="34" charset="-122"/>
                <a:cs typeface="Arial" pitchFamily="34" charset="-120"/>
              </a:rPr>
              <a:t>4 min</a:t>
            </a:r>
            <a:endParaRPr lang="en-US" sz="1100" dirty="0"/>
          </a:p>
        </p:txBody>
      </p:sp>
      <p:sp>
        <p:nvSpPr>
          <p:cNvPr id="16" name="Shape 14"/>
          <p:cNvSpPr/>
          <p:nvPr/>
        </p:nvSpPr>
        <p:spPr>
          <a:xfrm>
            <a:off x="6259068" y="1783080"/>
            <a:ext cx="2480310" cy="3200400"/>
          </a:xfrm>
          <a:prstGeom prst="roundRect">
            <a:avLst>
              <a:gd name="adj" fmla="val 3687"/>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7" name="Shape 15"/>
          <p:cNvSpPr/>
          <p:nvPr/>
        </p:nvSpPr>
        <p:spPr>
          <a:xfrm>
            <a:off x="6551676" y="2057400"/>
            <a:ext cx="566928" cy="566928"/>
          </a:xfrm>
          <a:prstGeom prst="ellipse">
            <a:avLst/>
          </a:prstGeom>
          <a:solidFill>
            <a:srgbClr val="F5C518"/>
          </a:solidFill>
          <a:ln/>
        </p:spPr>
        <p:txBody>
          <a:bodyPr/>
          <a:p/>
        </p:txBody>
      </p:sp>
      <p:sp>
        <p:nvSpPr>
          <p:cNvPr id="18" name="Text 16"/>
          <p:cNvSpPr/>
          <p:nvPr/>
        </p:nvSpPr>
        <p:spPr>
          <a:xfrm>
            <a:off x="6551676" y="2057400"/>
            <a:ext cx="566928" cy="56692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03</a:t>
            </a:r>
            <a:endParaRPr lang="en-US" sz="1800" dirty="0"/>
          </a:p>
        </p:txBody>
      </p:sp>
      <p:sp>
        <p:nvSpPr>
          <p:cNvPr id="19" name="Text 17"/>
          <p:cNvSpPr/>
          <p:nvPr/>
        </p:nvSpPr>
        <p:spPr>
          <a:xfrm>
            <a:off x="6551676" y="2788920"/>
            <a:ext cx="1895094" cy="320040"/>
          </a:xfrm>
          <a:prstGeom prst="rect">
            <a:avLst/>
          </a:prstGeom>
          <a:noFill/>
          <a:ln/>
        </p:spPr>
        <p:txBody>
          <a:bodyPr wrap="square" lIns="0" tIns="0" rIns="0" bIns="0" rtlCol="0" anchor="ctr"/>
          <a:lstStyle/>
          <a:p>
            <a:pPr indent="0" marL="0">
              <a:buNone/>
            </a:pPr>
            <a:r>
              <a:rPr lang="en-US" sz="1500" b="1" dirty="0">
                <a:solidFill>
                  <a:srgbClr val="1C1E21"/>
                </a:solidFill>
                <a:latin typeface="Arial" pitchFamily="34" charset="0"/>
                <a:ea typeface="Arial" pitchFamily="34" charset="-122"/>
                <a:cs typeface="Arial" pitchFamily="34" charset="-120"/>
              </a:rPr>
              <a:t>THE CRASH</a:t>
            </a:r>
            <a:endParaRPr lang="en-US" sz="1500" dirty="0"/>
          </a:p>
        </p:txBody>
      </p:sp>
      <p:sp>
        <p:nvSpPr>
          <p:cNvPr id="20" name="Text 18"/>
          <p:cNvSpPr/>
          <p:nvPr/>
        </p:nvSpPr>
        <p:spPr>
          <a:xfrm>
            <a:off x="6551676" y="3182112"/>
            <a:ext cx="1895094" cy="1234440"/>
          </a:xfrm>
          <a:prstGeom prst="rect">
            <a:avLst/>
          </a:prstGeom>
          <a:noFill/>
          <a:ln/>
        </p:spPr>
        <p:txBody>
          <a:bodyPr wrap="square" lIns="0" tIns="0" rIns="0" bIns="0" rtlCol="0" anchor="t"/>
          <a:lstStyle/>
          <a:p>
            <a:pPr indent="0" marL="0">
              <a:lnSpc>
                <a:spcPct val="125000"/>
              </a:lnSpc>
              <a:buNone/>
            </a:pPr>
            <a:r>
              <a:rPr lang="en-US" sz="1350" dirty="0">
                <a:solidFill>
                  <a:srgbClr val="45484C"/>
                </a:solidFill>
                <a:latin typeface="Calibri" pitchFamily="34" charset="0"/>
                <a:ea typeface="Calibri" pitchFamily="34" charset="-122"/>
                <a:cs typeface="Calibri" pitchFamily="34" charset="-120"/>
              </a:rPr>
              <a:t>The three ways it goes wrong specifically in a learning support context.</a:t>
            </a:r>
            <a:endParaRPr lang="en-US" sz="1350" dirty="0"/>
          </a:p>
        </p:txBody>
      </p:sp>
      <p:sp>
        <p:nvSpPr>
          <p:cNvPr id="21" name="Text 19"/>
          <p:cNvSpPr/>
          <p:nvPr/>
        </p:nvSpPr>
        <p:spPr>
          <a:xfrm>
            <a:off x="6551676" y="4480560"/>
            <a:ext cx="1895094" cy="274320"/>
          </a:xfrm>
          <a:prstGeom prst="rect">
            <a:avLst/>
          </a:prstGeom>
          <a:noFill/>
          <a:ln/>
        </p:spPr>
        <p:txBody>
          <a:bodyPr wrap="square" lIns="0" tIns="0" rIns="0" bIns="0" rtlCol="0" anchor="ctr"/>
          <a:lstStyle/>
          <a:p>
            <a:pPr indent="0" marL="0">
              <a:buNone/>
            </a:pPr>
            <a:r>
              <a:rPr lang="en-US" sz="1100" b="1" spc="100" kern="0" dirty="0">
                <a:solidFill>
                  <a:srgbClr val="6B7075"/>
                </a:solidFill>
                <a:latin typeface="Arial" pitchFamily="34" charset="0"/>
                <a:ea typeface="Arial" pitchFamily="34" charset="-122"/>
                <a:cs typeface="Arial" pitchFamily="34" charset="-120"/>
              </a:rPr>
              <a:t>3 min</a:t>
            </a:r>
            <a:endParaRPr lang="en-US" sz="1100" dirty="0"/>
          </a:p>
        </p:txBody>
      </p:sp>
      <p:sp>
        <p:nvSpPr>
          <p:cNvPr id="22" name="Shape 20"/>
          <p:cNvSpPr/>
          <p:nvPr/>
        </p:nvSpPr>
        <p:spPr>
          <a:xfrm>
            <a:off x="9068562" y="1783080"/>
            <a:ext cx="2480310" cy="3200400"/>
          </a:xfrm>
          <a:prstGeom prst="roundRect">
            <a:avLst>
              <a:gd name="adj" fmla="val 3687"/>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23" name="Shape 21"/>
          <p:cNvSpPr/>
          <p:nvPr/>
        </p:nvSpPr>
        <p:spPr>
          <a:xfrm>
            <a:off x="9361170" y="2057400"/>
            <a:ext cx="566928" cy="566928"/>
          </a:xfrm>
          <a:prstGeom prst="ellipse">
            <a:avLst/>
          </a:prstGeom>
          <a:solidFill>
            <a:srgbClr val="F5C518"/>
          </a:solidFill>
          <a:ln/>
        </p:spPr>
        <p:txBody>
          <a:bodyPr/>
          <a:p/>
        </p:txBody>
      </p:sp>
      <p:sp>
        <p:nvSpPr>
          <p:cNvPr id="24" name="Text 22"/>
          <p:cNvSpPr/>
          <p:nvPr/>
        </p:nvSpPr>
        <p:spPr>
          <a:xfrm>
            <a:off x="9361170" y="2057400"/>
            <a:ext cx="566928" cy="56692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04</a:t>
            </a:r>
            <a:endParaRPr lang="en-US" sz="1800" dirty="0"/>
          </a:p>
        </p:txBody>
      </p:sp>
      <p:sp>
        <p:nvSpPr>
          <p:cNvPr id="25" name="Text 23"/>
          <p:cNvSpPr/>
          <p:nvPr/>
        </p:nvSpPr>
        <p:spPr>
          <a:xfrm>
            <a:off x="9361170" y="2788920"/>
            <a:ext cx="1895094" cy="320040"/>
          </a:xfrm>
          <a:prstGeom prst="rect">
            <a:avLst/>
          </a:prstGeom>
          <a:noFill/>
          <a:ln/>
        </p:spPr>
        <p:txBody>
          <a:bodyPr wrap="square" lIns="0" tIns="0" rIns="0" bIns="0" rtlCol="0" anchor="ctr"/>
          <a:lstStyle/>
          <a:p>
            <a:pPr indent="0" marL="0">
              <a:buNone/>
            </a:pPr>
            <a:r>
              <a:rPr lang="en-US" sz="1500" b="1" dirty="0">
                <a:solidFill>
                  <a:srgbClr val="1C1E21"/>
                </a:solidFill>
                <a:latin typeface="Arial" pitchFamily="34" charset="0"/>
                <a:ea typeface="Arial" pitchFamily="34" charset="-122"/>
                <a:cs typeface="Arial" pitchFamily="34" charset="-120"/>
              </a:rPr>
              <a:t>THE BRAKES</a:t>
            </a:r>
            <a:endParaRPr lang="en-US" sz="1500" dirty="0"/>
          </a:p>
        </p:txBody>
      </p:sp>
      <p:sp>
        <p:nvSpPr>
          <p:cNvPr id="26" name="Text 24"/>
          <p:cNvSpPr/>
          <p:nvPr/>
        </p:nvSpPr>
        <p:spPr>
          <a:xfrm>
            <a:off x="9361170" y="3182112"/>
            <a:ext cx="1895094" cy="1234440"/>
          </a:xfrm>
          <a:prstGeom prst="rect">
            <a:avLst/>
          </a:prstGeom>
          <a:noFill/>
          <a:ln/>
        </p:spPr>
        <p:txBody>
          <a:bodyPr wrap="square" lIns="0" tIns="0" rIns="0" bIns="0" rtlCol="0" anchor="t"/>
          <a:lstStyle/>
          <a:p>
            <a:pPr indent="0" marL="0">
              <a:lnSpc>
                <a:spcPct val="125000"/>
              </a:lnSpc>
              <a:buNone/>
            </a:pPr>
            <a:r>
              <a:rPr lang="en-US" sz="1350" dirty="0">
                <a:solidFill>
                  <a:srgbClr val="45484C"/>
                </a:solidFill>
                <a:latin typeface="Calibri" pitchFamily="34" charset="0"/>
                <a:ea typeface="Calibri" pitchFamily="34" charset="-122"/>
                <a:cs typeface="Calibri" pitchFamily="34" charset="-120"/>
              </a:rPr>
              <a:t>De-identify · the C.O.R.E. scaffold · the three-point check · and the recovery plan.</a:t>
            </a:r>
            <a:endParaRPr lang="en-US" sz="1350" dirty="0"/>
          </a:p>
        </p:txBody>
      </p:sp>
      <p:sp>
        <p:nvSpPr>
          <p:cNvPr id="27" name="Text 25"/>
          <p:cNvSpPr/>
          <p:nvPr/>
        </p:nvSpPr>
        <p:spPr>
          <a:xfrm>
            <a:off x="9361170" y="4480560"/>
            <a:ext cx="1895094" cy="274320"/>
          </a:xfrm>
          <a:prstGeom prst="rect">
            <a:avLst/>
          </a:prstGeom>
          <a:noFill/>
          <a:ln/>
        </p:spPr>
        <p:txBody>
          <a:bodyPr wrap="square" lIns="0" tIns="0" rIns="0" bIns="0" rtlCol="0" anchor="ctr"/>
          <a:lstStyle/>
          <a:p>
            <a:pPr indent="0" marL="0">
              <a:buNone/>
            </a:pPr>
            <a:r>
              <a:rPr lang="en-US" sz="1100" b="1" spc="100" kern="0" dirty="0">
                <a:solidFill>
                  <a:srgbClr val="6B7075"/>
                </a:solidFill>
                <a:latin typeface="Arial" pitchFamily="34" charset="0"/>
                <a:ea typeface="Arial" pitchFamily="34" charset="-122"/>
                <a:cs typeface="Arial" pitchFamily="34" charset="-120"/>
              </a:rPr>
              <a:t>5 min</a:t>
            </a:r>
            <a:endParaRPr lang="en-US" sz="1100" dirty="0"/>
          </a:p>
        </p:txBody>
      </p:sp>
      <p:sp>
        <p:nvSpPr>
          <p:cNvPr id="28" name="Shape 26"/>
          <p:cNvSpPr/>
          <p:nvPr/>
        </p:nvSpPr>
        <p:spPr>
          <a:xfrm>
            <a:off x="640080" y="5257800"/>
            <a:ext cx="10908792" cy="868680"/>
          </a:xfrm>
          <a:prstGeom prst="roundRect">
            <a:avLst>
              <a:gd name="adj" fmla="val 8421"/>
            </a:avLst>
          </a:prstGeom>
          <a:solidFill>
            <a:srgbClr val="1C1E21"/>
          </a:solidFill>
          <a:ln/>
        </p:spPr>
        <p:txBody>
          <a:bodyPr/>
          <a:p/>
        </p:txBody>
      </p:sp>
      <p:sp>
        <p:nvSpPr>
          <p:cNvPr id="29" name="Text 27"/>
          <p:cNvSpPr/>
          <p:nvPr/>
        </p:nvSpPr>
        <p:spPr>
          <a:xfrm>
            <a:off x="1005840" y="5257800"/>
            <a:ext cx="10177272" cy="8686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You'll leave with one prompt scaffold, one red-line list, and one thing to try before Friday.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C1E21"/>
        </a:solidFill>
      </p:bgPr>
    </p:bg>
    <p:spTree>
      <p:nvGrpSpPr>
        <p:cNvPr id="1" name=""/>
        <p:cNvGrpSpPr/>
        <p:nvPr/>
      </p:nvGrpSpPr>
      <p:grpSpPr>
        <a:xfrm>
          <a:off x="0" y="0"/>
          <a:ext cx="0" cy="0"/>
          <a:chOff x="0" y="0"/>
          <a:chExt cx="0" cy="0"/>
        </a:xfrm>
      </p:grpSpPr>
      <p:sp>
        <p:nvSpPr>
          <p:cNvPr id="2" name="Shape 0"/>
          <p:cNvSpPr/>
          <p:nvPr/>
        </p:nvSpPr>
        <p:spPr>
          <a:xfrm>
            <a:off x="822960" y="1371600"/>
            <a:ext cx="658368" cy="658368"/>
          </a:xfrm>
          <a:prstGeom prst="ellipse">
            <a:avLst/>
          </a:prstGeom>
          <a:solidFill>
            <a:srgbClr val="F5C518"/>
          </a:solidFill>
          <a:ln/>
        </p:spPr>
      </p:sp>
      <p:sp>
        <p:nvSpPr>
          <p:cNvPr id="3" name="Text 1"/>
          <p:cNvSpPr/>
          <p:nvPr/>
        </p:nvSpPr>
        <p:spPr>
          <a:xfrm>
            <a:off x="822960" y="1371600"/>
            <a:ext cx="658368" cy="658368"/>
          </a:xfrm>
          <a:prstGeom prst="rect">
            <a:avLst/>
          </a:prstGeom>
          <a:noFill/>
          <a:ln/>
        </p:spPr>
        <p:txBody>
          <a:bodyPr wrap="square" lIns="0" tIns="0" rIns="0" bIns="0" rtlCol="0" anchor="ctr"/>
          <a:lstStyle/>
          <a:p>
            <a:pPr algn="ctr" indent="0" marL="0">
              <a:buNone/>
            </a:pPr>
            <a:r>
              <a:rPr lang="en-US" sz="2200" b="1" dirty="0">
                <a:solidFill>
                  <a:srgbClr val="1C1E21"/>
                </a:solidFill>
                <a:latin typeface="Arial" pitchFamily="34" charset="0"/>
                <a:ea typeface="Arial" pitchFamily="34" charset="-122"/>
                <a:cs typeface="Arial" pitchFamily="34" charset="-120"/>
              </a:rPr>
              <a:t>01</a:t>
            </a:r>
            <a:endParaRPr lang="en-US" sz="2200" dirty="0"/>
          </a:p>
        </p:txBody>
      </p:sp>
      <p:sp>
        <p:nvSpPr>
          <p:cNvPr id="4" name="Text 2"/>
          <p:cNvSpPr/>
          <p:nvPr/>
        </p:nvSpPr>
        <p:spPr>
          <a:xfrm>
            <a:off x="1691640" y="1490472"/>
            <a:ext cx="9006840" cy="411480"/>
          </a:xfrm>
          <a:prstGeom prst="rect">
            <a:avLst/>
          </a:prstGeom>
          <a:noFill/>
          <a:ln/>
        </p:spPr>
        <p:txBody>
          <a:bodyPr wrap="square" lIns="0" tIns="0" rIns="0" bIns="0" rtlCol="0" anchor="ctr"/>
          <a:lstStyle/>
          <a:p>
            <a:pPr indent="0" marL="0">
              <a:buNone/>
            </a:pPr>
            <a:r>
              <a:rPr lang="en-US" sz="1400" b="1" spc="300" kern="0" dirty="0">
                <a:solidFill>
                  <a:srgbClr val="F5C518"/>
                </a:solidFill>
                <a:latin typeface="Arial" pitchFamily="34" charset="0"/>
                <a:ea typeface="Arial" pitchFamily="34" charset="-122"/>
                <a:cs typeface="Arial" pitchFamily="34" charset="-120"/>
              </a:rPr>
              <a:t>THE GENIUS BABY</a:t>
            </a:r>
            <a:endParaRPr lang="en-US" sz="1400" dirty="0"/>
          </a:p>
        </p:txBody>
      </p:sp>
      <p:sp>
        <p:nvSpPr>
          <p:cNvPr id="5" name="Text 3"/>
          <p:cNvSpPr/>
          <p:nvPr/>
        </p:nvSpPr>
        <p:spPr>
          <a:xfrm>
            <a:off x="822960" y="2377440"/>
            <a:ext cx="10058400" cy="2011680"/>
          </a:xfrm>
          <a:prstGeom prst="rect">
            <a:avLst/>
          </a:prstGeom>
          <a:noFill/>
          <a:ln/>
        </p:spPr>
        <p:txBody>
          <a:bodyPr wrap="square" lIns="0" tIns="0" rIns="0" bIns="0" rtlCol="0" anchor="t"/>
          <a:lstStyle/>
          <a:p>
            <a:pPr indent="0" marL="0">
              <a:lnSpc>
                <a:spcPct val="112000"/>
              </a:lnSpc>
              <a:buNone/>
            </a:pPr>
            <a:r>
              <a:rPr lang="en-US" sz="3600" b="1" dirty="0">
                <a:solidFill>
                  <a:srgbClr val="FFFFFF"/>
                </a:solidFill>
                <a:latin typeface="Arial" pitchFamily="34" charset="0"/>
                <a:ea typeface="Arial" pitchFamily="34" charset="-122"/>
                <a:cs typeface="Arial" pitchFamily="34" charset="-120"/>
              </a:rPr>
              <a:t>It has read more than you ever will. It has understood none of your students.</a:t>
            </a:r>
            <a:endParaRPr lang="en-US" sz="3600" dirty="0"/>
          </a:p>
        </p:txBody>
      </p:sp>
      <p:sp>
        <p:nvSpPr>
          <p:cNvPr id="6" name="Text 4"/>
          <p:cNvSpPr/>
          <p:nvPr/>
        </p:nvSpPr>
        <p:spPr>
          <a:xfrm>
            <a:off x="822960" y="4572000"/>
            <a:ext cx="10058400" cy="1371600"/>
          </a:xfrm>
          <a:prstGeom prst="rect">
            <a:avLst/>
          </a:prstGeom>
          <a:noFill/>
          <a:ln/>
        </p:spPr>
        <p:txBody>
          <a:bodyPr wrap="square" lIns="0" tIns="0" rIns="0" bIns="0" rtlCol="0" anchor="t"/>
          <a:lstStyle/>
          <a:p>
            <a:pPr indent="0" marL="0">
              <a:lnSpc>
                <a:spcPct val="130000"/>
              </a:lnSpc>
              <a:buNone/>
            </a:pPr>
            <a:r>
              <a:rPr lang="en-US" sz="1500" dirty="0">
                <a:solidFill>
                  <a:srgbClr val="9AA0A6"/>
                </a:solidFill>
                <a:latin typeface="Calibri" pitchFamily="34" charset="0"/>
                <a:ea typeface="Calibri" pitchFamily="34" charset="-122"/>
                <a:cs typeface="Calibri" pitchFamily="34" charset="-120"/>
              </a:rPr>
              <a:t>Both halves of that sentence matter. Underrate the first half and you waste it. Underrate the second half and you hurt someone.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WHAT YOU'RE ACTUALLY WORKING WITH</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Genius at the words. Clueless about the child.</a:t>
            </a:r>
            <a:endParaRPr lang="en-US" sz="3300" dirty="0"/>
          </a:p>
        </p:txBody>
      </p:sp>
      <p:sp>
        <p:nvSpPr>
          <p:cNvPr id="4" name="Shape 2"/>
          <p:cNvSpPr/>
          <p:nvPr/>
        </p:nvSpPr>
        <p:spPr>
          <a:xfrm>
            <a:off x="640080" y="1627632"/>
            <a:ext cx="5289804" cy="3456432"/>
          </a:xfrm>
          <a:prstGeom prst="roundRect">
            <a:avLst>
              <a:gd name="adj" fmla="val 2222"/>
            </a:avLst>
          </a:prstGeom>
          <a:solidFill>
            <a:srgbClr val="EAF3EE"/>
          </a:solidFill>
          <a:ln/>
        </p:spPr>
        <p:txBody>
          <a:bodyPr/>
          <a:p/>
        </p:txBody>
      </p:sp>
      <p:sp>
        <p:nvSpPr>
          <p:cNvPr id="5" name="Text 3"/>
          <p:cNvSpPr/>
          <p:nvPr/>
        </p:nvSpPr>
        <p:spPr>
          <a:xfrm>
            <a:off x="1005840" y="1810512"/>
            <a:ext cx="4558284" cy="320040"/>
          </a:xfrm>
          <a:prstGeom prst="rect">
            <a:avLst/>
          </a:prstGeom>
          <a:noFill/>
          <a:ln/>
        </p:spPr>
        <p:txBody>
          <a:bodyPr wrap="square" lIns="0" tIns="0" rIns="0" bIns="0" rtlCol="0" anchor="ctr"/>
          <a:lstStyle/>
          <a:p>
            <a:pPr indent="0" marL="0">
              <a:buNone/>
            </a:pPr>
            <a:r>
              <a:rPr lang="en-US" sz="1400" b="1" spc="200" kern="0" dirty="0">
                <a:solidFill>
                  <a:srgbClr val="2F7D5B"/>
                </a:solidFill>
                <a:latin typeface="Arial" pitchFamily="34" charset="0"/>
                <a:ea typeface="Arial" pitchFamily="34" charset="-122"/>
                <a:cs typeface="Arial" pitchFamily="34" charset="-120"/>
              </a:rPr>
              <a:t>GENIUS AT</a:t>
            </a:r>
            <a:endParaRPr lang="en-US" sz="1400" dirty="0"/>
          </a:p>
        </p:txBody>
      </p:sp>
      <p:sp>
        <p:nvSpPr>
          <p:cNvPr id="6" name="Text 4"/>
          <p:cNvSpPr/>
          <p:nvPr/>
        </p:nvSpPr>
        <p:spPr>
          <a:xfrm>
            <a:off x="1005840" y="224942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Language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Rewriting, simplifying, restructuring, changing tone.</a:t>
            </a:r>
            <a:endParaRPr lang="en-US" sz="1350" dirty="0"/>
          </a:p>
        </p:txBody>
      </p:sp>
      <p:sp>
        <p:nvSpPr>
          <p:cNvPr id="7" name="Text 5"/>
          <p:cNvSpPr/>
          <p:nvPr/>
        </p:nvSpPr>
        <p:spPr>
          <a:xfrm>
            <a:off x="1005840" y="279806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Volume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Thirty variations while you make a coffee.</a:t>
            </a:r>
            <a:endParaRPr lang="en-US" sz="1350" dirty="0"/>
          </a:p>
        </p:txBody>
      </p:sp>
      <p:sp>
        <p:nvSpPr>
          <p:cNvPr id="8" name="Text 6"/>
          <p:cNvSpPr/>
          <p:nvPr/>
        </p:nvSpPr>
        <p:spPr>
          <a:xfrm>
            <a:off x="1005840" y="334670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Shape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Turning your messy notes into a clean structure.</a:t>
            </a:r>
            <a:endParaRPr lang="en-US" sz="1350" dirty="0"/>
          </a:p>
        </p:txBody>
      </p:sp>
      <p:sp>
        <p:nvSpPr>
          <p:cNvPr id="9" name="Text 7"/>
          <p:cNvSpPr/>
          <p:nvPr/>
        </p:nvSpPr>
        <p:spPr>
          <a:xfrm>
            <a:off x="1005840" y="389534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Formats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Tables, sentence starters, step sequences, cloze.</a:t>
            </a:r>
            <a:endParaRPr lang="en-US" sz="1350" dirty="0"/>
          </a:p>
        </p:txBody>
      </p:sp>
      <p:sp>
        <p:nvSpPr>
          <p:cNvPr id="10" name="Text 8"/>
          <p:cNvSpPr/>
          <p:nvPr/>
        </p:nvSpPr>
        <p:spPr>
          <a:xfrm>
            <a:off x="1005840" y="4443983"/>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Patience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It will never sigh at the ninth rewrite.</a:t>
            </a:r>
            <a:endParaRPr lang="en-US" sz="1350" dirty="0"/>
          </a:p>
        </p:txBody>
      </p:sp>
      <p:sp>
        <p:nvSpPr>
          <p:cNvPr id="11" name="Shape 9"/>
          <p:cNvSpPr/>
          <p:nvPr/>
        </p:nvSpPr>
        <p:spPr>
          <a:xfrm>
            <a:off x="6259068" y="1627632"/>
            <a:ext cx="5289804" cy="3456432"/>
          </a:xfrm>
          <a:prstGeom prst="roundRect">
            <a:avLst>
              <a:gd name="adj" fmla="val 2222"/>
            </a:avLst>
          </a:prstGeom>
          <a:solidFill>
            <a:srgbClr val="FBEDEA"/>
          </a:solidFill>
          <a:ln/>
        </p:spPr>
        <p:txBody>
          <a:bodyPr/>
          <a:p/>
        </p:txBody>
      </p:sp>
      <p:sp>
        <p:nvSpPr>
          <p:cNvPr id="12" name="Text 10"/>
          <p:cNvSpPr/>
          <p:nvPr/>
        </p:nvSpPr>
        <p:spPr>
          <a:xfrm>
            <a:off x="6624828" y="1810512"/>
            <a:ext cx="4558284" cy="320040"/>
          </a:xfrm>
          <a:prstGeom prst="rect">
            <a:avLst/>
          </a:prstGeom>
          <a:noFill/>
          <a:ln/>
        </p:spPr>
        <p:txBody>
          <a:bodyPr wrap="square" lIns="0" tIns="0" rIns="0" bIns="0" rtlCol="0" anchor="ctr"/>
          <a:lstStyle/>
          <a:p>
            <a:pPr indent="0" marL="0">
              <a:buNone/>
            </a:pPr>
            <a:r>
              <a:rPr lang="en-US" sz="1400" b="1" spc="200" kern="0" dirty="0">
                <a:solidFill>
                  <a:srgbClr val="C8402F"/>
                </a:solidFill>
                <a:latin typeface="Arial" pitchFamily="34" charset="0"/>
                <a:ea typeface="Arial" pitchFamily="34" charset="-122"/>
                <a:cs typeface="Arial" pitchFamily="34" charset="-120"/>
              </a:rPr>
              <a:t>CLUELESS ABOUT</a:t>
            </a:r>
            <a:endParaRPr lang="en-US" sz="1400" dirty="0"/>
          </a:p>
        </p:txBody>
      </p:sp>
      <p:sp>
        <p:nvSpPr>
          <p:cNvPr id="13" name="Text 11"/>
          <p:cNvSpPr/>
          <p:nvPr/>
        </p:nvSpPr>
        <p:spPr>
          <a:xfrm>
            <a:off x="6624828" y="224942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Your student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It has never met them and never will.</a:t>
            </a:r>
            <a:endParaRPr lang="en-US" sz="1350" dirty="0"/>
          </a:p>
        </p:txBody>
      </p:sp>
      <p:sp>
        <p:nvSpPr>
          <p:cNvPr id="14" name="Text 12"/>
          <p:cNvSpPr/>
          <p:nvPr/>
        </p:nvSpPr>
        <p:spPr>
          <a:xfrm>
            <a:off x="6624828" y="279806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Your context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The class, the TA, the timetable, the 2pm trigger.</a:t>
            </a:r>
            <a:endParaRPr lang="en-US" sz="1350" dirty="0"/>
          </a:p>
        </p:txBody>
      </p:sp>
      <p:sp>
        <p:nvSpPr>
          <p:cNvPr id="15" name="Text 13"/>
          <p:cNvSpPr/>
          <p:nvPr/>
        </p:nvSpPr>
        <p:spPr>
          <a:xfrm>
            <a:off x="6624828" y="334670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What's true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It predicts plausible. Plausible is not correct.</a:t>
            </a:r>
            <a:endParaRPr lang="en-US" sz="1350" dirty="0"/>
          </a:p>
        </p:txBody>
      </p:sp>
      <p:sp>
        <p:nvSpPr>
          <p:cNvPr id="16" name="Text 14"/>
          <p:cNvSpPr/>
          <p:nvPr/>
        </p:nvSpPr>
        <p:spPr>
          <a:xfrm>
            <a:off x="6624828" y="3895344"/>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What matters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It can't tell a warm-up from a legal document.</a:t>
            </a:r>
            <a:endParaRPr lang="en-US" sz="1350" dirty="0"/>
          </a:p>
        </p:txBody>
      </p:sp>
      <p:sp>
        <p:nvSpPr>
          <p:cNvPr id="17" name="Text 15"/>
          <p:cNvSpPr/>
          <p:nvPr/>
        </p:nvSpPr>
        <p:spPr>
          <a:xfrm>
            <a:off x="6624828" y="4443983"/>
            <a:ext cx="4558284" cy="530352"/>
          </a:xfrm>
          <a:prstGeom prst="rect">
            <a:avLst/>
          </a:prstGeom>
          <a:noFill/>
          <a:ln/>
        </p:spPr>
        <p:txBody>
          <a:bodyPr wrap="square" lIns="0" tIns="0" rIns="0" bIns="0" rtlCol="0" anchor="t"/>
          <a:lstStyle/>
          <a:p>
            <a:pPr indent="0" marL="0">
              <a:lnSpc>
                <a:spcPct val="120000"/>
              </a:lnSpc>
              <a:buNone/>
            </a:pPr>
            <a:r>
              <a:rPr lang="en-US" sz="1350" b="1" dirty="0">
                <a:solidFill>
                  <a:srgbClr val="1C1E21"/>
                </a:solidFill>
                <a:latin typeface="Calibri" pitchFamily="34" charset="0"/>
                <a:ea typeface="Calibri" pitchFamily="34" charset="-122"/>
                <a:cs typeface="Calibri" pitchFamily="34" charset="-120"/>
              </a:rPr>
              <a:t>Stakes — </a:t>
            </a:r>
            <a:pPr indent="0" marL="0">
              <a:lnSpc>
                <a:spcPct val="120000"/>
              </a:lnSpc>
              <a:buNone/>
            </a:pPr>
            <a:r>
              <a:rPr lang="en-US" sz="1350" dirty="0">
                <a:solidFill>
                  <a:srgbClr val="45484C"/>
                </a:solidFill>
                <a:latin typeface="Calibri" pitchFamily="34" charset="0"/>
                <a:ea typeface="Calibri" pitchFamily="34" charset="-122"/>
                <a:cs typeface="Calibri" pitchFamily="34" charset="-120"/>
              </a:rPr>
              <a:t>An ILP and a shopping list look identical to it.</a:t>
            </a:r>
            <a:endParaRPr lang="en-US" sz="1350" dirty="0"/>
          </a:p>
        </p:txBody>
      </p:sp>
      <p:sp>
        <p:nvSpPr>
          <p:cNvPr id="4" name="Shape 2"/>
          <p:cNvSpPr/>
          <p:nvPr/>
        </p:nvSpPr>
        <p:spPr>
          <a:xfrm>
            <a:off x="640080" y="5138928"/>
            <a:ext cx="10908792" cy="1225296"/>
          </a:xfrm>
          <a:prstGeom prst="roundRect">
            <a:avLst>
              <a:gd name="adj" fmla="val 3226"/>
            </a:avLst>
          </a:prstGeom>
          <a:solidFill>
            <a:srgbClr val="1C1E21"/>
          </a:solidFill>
          <a:ln/>
        </p:spPr>
        <p:txBody>
          <a:bodyPr/>
          <a:p/>
        </p:txBody>
      </p:sp>
      <p:sp>
        <p:nvSpPr>
          <p:cNvPr id="5" name="Text 3"/>
          <p:cNvSpPr/>
          <p:nvPr/>
        </p:nvSpPr>
        <p:spPr>
          <a:xfrm>
            <a:off x="1051560" y="5175504"/>
            <a:ext cx="1645920" cy="1152144"/>
          </a:xfrm>
          <a:prstGeom prst="rect">
            <a:avLst/>
          </a:prstGeom>
          <a:noFill/>
          <a:ln/>
        </p:spPr>
        <p:txBody>
          <a:bodyPr wrap="square" lIns="0" tIns="0" rIns="0" bIns="0" rtlCol="0" anchor="ctr"/>
          <a:lstStyle/>
          <a:p>
            <a:pPr algn="ctr" indent="0" marL="0">
              <a:buNone/>
            </a:pPr>
            <a:r>
              <a:rPr lang="en-US" sz="5400" b="1" dirty="0">
                <a:solidFill>
                  <a:srgbClr val="F5C518"/>
                </a:solidFill>
                <a:latin typeface="Arial" pitchFamily="34" charset="0"/>
                <a:ea typeface="Arial" pitchFamily="34" charset="-122"/>
                <a:cs typeface="Arial" pitchFamily="34" charset="-120"/>
              </a:rPr>
              <a:t>0%</a:t>
            </a:r>
            <a:endParaRPr lang="en-US" sz="7600" dirty="0"/>
          </a:p>
        </p:txBody>
      </p:sp>
      <p:sp>
        <p:nvSpPr>
          <p:cNvPr id="6" name="Text 4"/>
          <p:cNvSpPr/>
          <p:nvPr/>
        </p:nvSpPr>
        <p:spPr>
          <a:xfrm>
            <a:off x="2926080" y="5541264"/>
            <a:ext cx="8321040" cy="822960"/>
          </a:xfrm>
          <a:prstGeom prst="rect">
            <a:avLst/>
          </a:prstGeom>
          <a:noFill/>
          <a:ln/>
        </p:spPr>
        <p:txBody>
          <a:bodyPr wrap="square" lIns="0" tIns="0" rIns="0" bIns="0" rtlCol="0" anchor="t"/>
          <a:lstStyle/>
          <a:p>
            <a:pPr algn="l" indent="0" marL="0">
              <a:lnSpc>
                <a:spcPct val="125000"/>
              </a:lnSpc>
              <a:buNone/>
            </a:pPr>
            <a:r>
              <a:rPr lang="en-US" sz="1400" dirty="0">
                <a:solidFill>
                  <a:srgbClr val="FFFFFF"/>
                </a:solidFill>
                <a:latin typeface="Calibri" pitchFamily="34" charset="0"/>
                <a:ea typeface="Calibri" pitchFamily="34" charset="-122"/>
                <a:cs typeface="Calibri" pitchFamily="34" charset="-120"/>
              </a:rPr>
              <a:t>of its confidence comes from knowing it's right. It predicts plausible — and plausible is not correct.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1E21"/>
        </a:solidFill>
      </p:bgPr>
    </p:bg>
    <p:spTree>
      <p:nvGrpSpPr>
        <p:cNvPr id="1" name=""/>
        <p:cNvGrpSpPr/>
        <p:nvPr/>
      </p:nvGrpSpPr>
      <p:grpSpPr>
        <a:xfrm>
          <a:off x="0" y="0"/>
          <a:ext cx="0" cy="0"/>
          <a:chOff x="0" y="0"/>
          <a:chExt cx="0" cy="0"/>
        </a:xfrm>
      </p:grpSpPr>
      <p:pic>
        <p:nvPicPr>
          <p:cNvPr id="7" name="Picture 6" descr="image_b_forklift.png"/>
          <p:cNvPicPr>
            <a:picLocks noChangeAspect="1"/>
          </p:cNvPicPr>
          <p:nvPr/>
        </p:nvPicPr>
        <p:blipFill>
          <a:blip r:embed="rId3"/>
          <a:stretch>
            <a:fillRect/>
          </a:stretch>
        </p:blipFill>
        <p:spPr>
          <a:xfrm>
            <a:off x="6888449" y="0"/>
            <a:ext cx="5303520" cy="6858000"/>
          </a:xfrm>
          <a:prstGeom prst="rect">
            <a:avLst/>
          </a:prstGeom>
        </p:spPr>
      </p:pic>
      <p:sp>
        <p:nvSpPr>
          <p:cNvPr id="2" name="Shape 0"/>
          <p:cNvSpPr/>
          <p:nvPr/>
        </p:nvSpPr>
        <p:spPr>
          <a:xfrm>
            <a:off x="822960" y="1371600"/>
            <a:ext cx="658368" cy="658368"/>
          </a:xfrm>
          <a:prstGeom prst="ellipse">
            <a:avLst/>
          </a:prstGeom>
          <a:solidFill>
            <a:srgbClr val="F5C518"/>
          </a:solidFill>
          <a:ln/>
        </p:spPr>
        <p:txBody>
          <a:bodyPr/>
          <a:p/>
        </p:txBody>
      </p:sp>
      <p:sp>
        <p:nvSpPr>
          <p:cNvPr id="3" name="Text 1"/>
          <p:cNvSpPr/>
          <p:nvPr/>
        </p:nvSpPr>
        <p:spPr>
          <a:xfrm>
            <a:off x="822960" y="1371600"/>
            <a:ext cx="658368" cy="658368"/>
          </a:xfrm>
          <a:prstGeom prst="rect">
            <a:avLst/>
          </a:prstGeom>
          <a:noFill/>
          <a:ln/>
        </p:spPr>
        <p:txBody>
          <a:bodyPr wrap="square" lIns="0" tIns="0" rIns="0" bIns="0" rtlCol="0" anchor="ctr"/>
          <a:lstStyle/>
          <a:p>
            <a:pPr algn="ctr" indent="0" marL="0">
              <a:buNone/>
            </a:pPr>
            <a:r>
              <a:rPr lang="en-US" sz="2200" b="1" dirty="0">
                <a:solidFill>
                  <a:srgbClr val="1C1E21"/>
                </a:solidFill>
                <a:latin typeface="Arial" pitchFamily="34" charset="0"/>
                <a:ea typeface="Arial" pitchFamily="34" charset="-122"/>
                <a:cs typeface="Arial" pitchFamily="34" charset="-120"/>
              </a:rPr>
              <a:t>02</a:t>
            </a:r>
            <a:endParaRPr lang="en-US" sz="2200" dirty="0"/>
          </a:p>
        </p:txBody>
      </p:sp>
      <p:sp>
        <p:nvSpPr>
          <p:cNvPr id="4" name="Text 2"/>
          <p:cNvSpPr/>
          <p:nvPr/>
        </p:nvSpPr>
        <p:spPr>
          <a:xfrm>
            <a:off x="1691640" y="1490472"/>
            <a:ext cx="4709160" cy="411480"/>
          </a:xfrm>
          <a:prstGeom prst="rect">
            <a:avLst/>
          </a:prstGeom>
          <a:noFill/>
          <a:ln/>
        </p:spPr>
        <p:txBody>
          <a:bodyPr wrap="square" lIns="0" tIns="0" rIns="0" bIns="0" rtlCol="0" anchor="ctr"/>
          <a:lstStyle/>
          <a:p>
            <a:pPr indent="0" marL="0">
              <a:buNone/>
            </a:pPr>
            <a:r>
              <a:rPr lang="en-US" sz="1400" b="1" spc="300" kern="0" dirty="0">
                <a:solidFill>
                  <a:srgbClr val="F5C518"/>
                </a:solidFill>
                <a:latin typeface="Arial" pitchFamily="34" charset="0"/>
                <a:ea typeface="Arial" pitchFamily="34" charset="-122"/>
                <a:cs typeface="Arial" pitchFamily="34" charset="-120"/>
              </a:rPr>
              <a:t>THE FORKLIFT</a:t>
            </a:r>
            <a:endParaRPr lang="en-US" sz="1400" dirty="0"/>
          </a:p>
        </p:txBody>
      </p:sp>
      <p:sp>
        <p:nvSpPr>
          <p:cNvPr id="5" name="Text 3"/>
          <p:cNvSpPr/>
          <p:nvPr/>
        </p:nvSpPr>
        <p:spPr>
          <a:xfrm>
            <a:off x="822960" y="2377440"/>
            <a:ext cx="5760720" cy="201168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Arial" pitchFamily="34" charset="0"/>
                <a:ea typeface="Arial" pitchFamily="34" charset="-122"/>
                <a:cs typeface="Arial" pitchFamily="34" charset="-120"/>
              </a:rPr>
              <a:t>A chatbox doesn't make it smarter. It gives it reach.</a:t>
            </a:r>
            <a:endParaRPr lang="en-US" sz="3000" dirty="0"/>
          </a:p>
        </p:txBody>
      </p:sp>
      <p:sp>
        <p:nvSpPr>
          <p:cNvPr id="6" name="Text 4"/>
          <p:cNvSpPr/>
          <p:nvPr/>
        </p:nvSpPr>
        <p:spPr>
          <a:xfrm>
            <a:off x="822960" y="4572000"/>
            <a:ext cx="5760720" cy="1371600"/>
          </a:xfrm>
          <a:prstGeom prst="rect">
            <a:avLst/>
          </a:prstGeom>
          <a:noFill/>
          <a:ln/>
        </p:spPr>
        <p:txBody>
          <a:bodyPr wrap="square" lIns="0" tIns="0" rIns="0" bIns="0" rtlCol="0" anchor="t"/>
          <a:lstStyle/>
          <a:p>
            <a:pPr indent="0" marL="0">
              <a:lnSpc>
                <a:spcPct val="130000"/>
              </a:lnSpc>
              <a:buNone/>
            </a:pPr>
            <a:r>
              <a:rPr lang="en-US" sz="1500" dirty="0">
                <a:solidFill>
                  <a:srgbClr val="9AA0A6"/>
                </a:solidFill>
                <a:latin typeface="Calibri" pitchFamily="34" charset="0"/>
                <a:ea typeface="Calibri" pitchFamily="34" charset="-122"/>
                <a:cs typeface="Calibri" pitchFamily="34" charset="-120"/>
              </a:rPr>
              <a:t>Copilot Chat is the forklift: it shifts loads you'd otherwise spend a free period on. Whether that's useful depends entirely on where you point 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WHERE TO POINT IT</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Six loads worth lifting.</a:t>
            </a:r>
            <a:endParaRPr lang="en-US" sz="3300" dirty="0"/>
          </a:p>
        </p:txBody>
      </p:sp>
      <p:sp>
        <p:nvSpPr>
          <p:cNvPr id="4" name="Shape 2"/>
          <p:cNvSpPr/>
          <p:nvPr/>
        </p:nvSpPr>
        <p:spPr>
          <a:xfrm>
            <a:off x="640080" y="178308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5" name="Shape 3"/>
          <p:cNvSpPr/>
          <p:nvPr/>
        </p:nvSpPr>
        <p:spPr>
          <a:xfrm>
            <a:off x="914400" y="2039112"/>
            <a:ext cx="457200" cy="457200"/>
          </a:xfrm>
          <a:prstGeom prst="ellipse">
            <a:avLst/>
          </a:prstGeom>
          <a:solidFill>
            <a:srgbClr val="F5C518"/>
          </a:solidFill>
          <a:ln/>
        </p:spPr>
        <p:txBody>
          <a:bodyPr/>
          <a:p/>
        </p:txBody>
      </p:sp>
      <p:sp>
        <p:nvSpPr>
          <p:cNvPr id="6" name="Text 4"/>
          <p:cNvSpPr/>
          <p:nvPr/>
        </p:nvSpPr>
        <p:spPr>
          <a:xfrm>
            <a:off x="914400" y="203911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481328" y="205740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Reading-age rewrites</a:t>
            </a:r>
            <a:endParaRPr lang="en-US" sz="1450" dirty="0"/>
          </a:p>
        </p:txBody>
      </p:sp>
      <p:sp>
        <p:nvSpPr>
          <p:cNvPr id="8" name="Text 6"/>
          <p:cNvSpPr/>
          <p:nvPr/>
        </p:nvSpPr>
        <p:spPr>
          <a:xfrm>
            <a:off x="914400" y="267919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Same content, lower reading age, subject vocabulary kept intact. Any subject, any year.</a:t>
            </a:r>
            <a:endParaRPr lang="en-US" sz="1300" dirty="0"/>
          </a:p>
        </p:txBody>
      </p:sp>
      <p:sp>
        <p:nvSpPr>
          <p:cNvPr id="9" name="Shape 7"/>
          <p:cNvSpPr/>
          <p:nvPr/>
        </p:nvSpPr>
        <p:spPr>
          <a:xfrm>
            <a:off x="4386072" y="178308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0" name="Shape 8"/>
          <p:cNvSpPr/>
          <p:nvPr/>
        </p:nvSpPr>
        <p:spPr>
          <a:xfrm>
            <a:off x="4660392" y="2039112"/>
            <a:ext cx="457200" cy="457200"/>
          </a:xfrm>
          <a:prstGeom prst="ellipse">
            <a:avLst/>
          </a:prstGeom>
          <a:solidFill>
            <a:srgbClr val="F5C518"/>
          </a:solidFill>
          <a:ln/>
        </p:spPr>
        <p:txBody>
          <a:bodyPr/>
          <a:p/>
        </p:txBody>
      </p:sp>
      <p:sp>
        <p:nvSpPr>
          <p:cNvPr id="11" name="Text 9"/>
          <p:cNvSpPr/>
          <p:nvPr/>
        </p:nvSpPr>
        <p:spPr>
          <a:xfrm>
            <a:off x="4660392" y="203911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2</a:t>
            </a:r>
            <a:endParaRPr lang="en-US" sz="1400" dirty="0"/>
          </a:p>
        </p:txBody>
      </p:sp>
      <p:sp>
        <p:nvSpPr>
          <p:cNvPr id="12" name="Text 10"/>
          <p:cNvSpPr/>
          <p:nvPr/>
        </p:nvSpPr>
        <p:spPr>
          <a:xfrm>
            <a:off x="5227320" y="205740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Tiered tasks</a:t>
            </a:r>
            <a:endParaRPr lang="en-US" sz="1450" dirty="0"/>
          </a:p>
        </p:txBody>
      </p:sp>
      <p:sp>
        <p:nvSpPr>
          <p:cNvPr id="13" name="Text 11"/>
          <p:cNvSpPr/>
          <p:nvPr/>
        </p:nvSpPr>
        <p:spPr>
          <a:xfrm>
            <a:off x="4660392" y="267919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One worksheet becomes three levels. Extension, core and entry, in about a minute.</a:t>
            </a:r>
            <a:endParaRPr lang="en-US" sz="1300" dirty="0"/>
          </a:p>
        </p:txBody>
      </p:sp>
      <p:sp>
        <p:nvSpPr>
          <p:cNvPr id="14" name="Shape 12"/>
          <p:cNvSpPr/>
          <p:nvPr/>
        </p:nvSpPr>
        <p:spPr>
          <a:xfrm>
            <a:off x="8132064" y="178308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15" name="Shape 13"/>
          <p:cNvSpPr/>
          <p:nvPr/>
        </p:nvSpPr>
        <p:spPr>
          <a:xfrm>
            <a:off x="8406384" y="2039112"/>
            <a:ext cx="457200" cy="457200"/>
          </a:xfrm>
          <a:prstGeom prst="ellipse">
            <a:avLst/>
          </a:prstGeom>
          <a:solidFill>
            <a:srgbClr val="F5C518"/>
          </a:solidFill>
          <a:ln/>
        </p:spPr>
        <p:txBody>
          <a:bodyPr/>
          <a:p/>
        </p:txBody>
      </p:sp>
      <p:sp>
        <p:nvSpPr>
          <p:cNvPr id="16" name="Text 14"/>
          <p:cNvSpPr/>
          <p:nvPr/>
        </p:nvSpPr>
        <p:spPr>
          <a:xfrm>
            <a:off x="8406384" y="203911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8973312" y="205740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Scaffolds on demand</a:t>
            </a:r>
            <a:endParaRPr lang="en-US" sz="1450" dirty="0"/>
          </a:p>
        </p:txBody>
      </p:sp>
      <p:sp>
        <p:nvSpPr>
          <p:cNvPr id="18" name="Text 16"/>
          <p:cNvSpPr/>
          <p:nvPr/>
        </p:nvSpPr>
        <p:spPr>
          <a:xfrm>
            <a:off x="8406384" y="267919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Sentence starters, cloze, word banks, step sequences, checklists, glossaries.</a:t>
            </a:r>
            <a:endParaRPr lang="en-US" sz="1300" dirty="0"/>
          </a:p>
        </p:txBody>
      </p:sp>
      <p:sp>
        <p:nvSpPr>
          <p:cNvPr id="19" name="Shape 17"/>
          <p:cNvSpPr/>
          <p:nvPr/>
        </p:nvSpPr>
        <p:spPr>
          <a:xfrm>
            <a:off x="640080" y="388620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20" name="Shape 18"/>
          <p:cNvSpPr/>
          <p:nvPr/>
        </p:nvSpPr>
        <p:spPr>
          <a:xfrm>
            <a:off x="914400" y="4142232"/>
            <a:ext cx="457200" cy="457200"/>
          </a:xfrm>
          <a:prstGeom prst="ellipse">
            <a:avLst/>
          </a:prstGeom>
          <a:solidFill>
            <a:srgbClr val="F5C518"/>
          </a:solidFill>
          <a:ln/>
        </p:spPr>
        <p:txBody>
          <a:bodyPr/>
          <a:p/>
        </p:txBody>
      </p:sp>
      <p:sp>
        <p:nvSpPr>
          <p:cNvPr id="21" name="Text 19"/>
          <p:cNvSpPr/>
          <p:nvPr/>
        </p:nvSpPr>
        <p:spPr>
          <a:xfrm>
            <a:off x="914400" y="414223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4</a:t>
            </a:r>
            <a:endParaRPr lang="en-US" sz="1400" dirty="0"/>
          </a:p>
        </p:txBody>
      </p:sp>
      <p:sp>
        <p:nvSpPr>
          <p:cNvPr id="22" name="Text 20"/>
          <p:cNvSpPr/>
          <p:nvPr/>
        </p:nvSpPr>
        <p:spPr>
          <a:xfrm>
            <a:off x="1481328" y="416052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ILP and PLP drafting</a:t>
            </a:r>
            <a:endParaRPr lang="en-US" sz="1450" dirty="0"/>
          </a:p>
        </p:txBody>
      </p:sp>
      <p:sp>
        <p:nvSpPr>
          <p:cNvPr id="23" name="Text 21"/>
          <p:cNvSpPr/>
          <p:nvPr/>
        </p:nvSpPr>
        <p:spPr>
          <a:xfrm>
            <a:off x="914400" y="478231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Your bullet points into SMART wording. Goals, adjustments, review notes. You set the goal.</a:t>
            </a:r>
            <a:endParaRPr lang="en-US" sz="1300" dirty="0"/>
          </a:p>
        </p:txBody>
      </p:sp>
      <p:sp>
        <p:nvSpPr>
          <p:cNvPr id="24" name="Shape 22"/>
          <p:cNvSpPr/>
          <p:nvPr/>
        </p:nvSpPr>
        <p:spPr>
          <a:xfrm>
            <a:off x="4386072" y="388620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25" name="Shape 23"/>
          <p:cNvSpPr/>
          <p:nvPr/>
        </p:nvSpPr>
        <p:spPr>
          <a:xfrm>
            <a:off x="4660392" y="4142232"/>
            <a:ext cx="457200" cy="457200"/>
          </a:xfrm>
          <a:prstGeom prst="ellipse">
            <a:avLst/>
          </a:prstGeom>
          <a:solidFill>
            <a:srgbClr val="F5C518"/>
          </a:solidFill>
          <a:ln/>
        </p:spPr>
        <p:txBody>
          <a:bodyPr/>
          <a:p/>
        </p:txBody>
      </p:sp>
      <p:sp>
        <p:nvSpPr>
          <p:cNvPr id="26" name="Text 24"/>
          <p:cNvSpPr/>
          <p:nvPr/>
        </p:nvSpPr>
        <p:spPr>
          <a:xfrm>
            <a:off x="4660392" y="414223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5</a:t>
            </a:r>
            <a:endParaRPr lang="en-US" sz="1400" dirty="0"/>
          </a:p>
        </p:txBody>
      </p:sp>
      <p:sp>
        <p:nvSpPr>
          <p:cNvPr id="27" name="Text 25"/>
          <p:cNvSpPr/>
          <p:nvPr/>
        </p:nvSpPr>
        <p:spPr>
          <a:xfrm>
            <a:off x="5227320" y="416052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Plain-language comms</a:t>
            </a:r>
            <a:endParaRPr lang="en-US" sz="1450" dirty="0"/>
          </a:p>
        </p:txBody>
      </p:sp>
      <p:sp>
        <p:nvSpPr>
          <p:cNvPr id="28" name="Text 26"/>
          <p:cNvSpPr/>
          <p:nvPr/>
        </p:nvSpPr>
        <p:spPr>
          <a:xfrm>
            <a:off x="4660392" y="478231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Parent emails, newsletter blurbs, a dense report paragraph turned into something a parent can actually read.</a:t>
            </a:r>
            <a:endParaRPr lang="en-US" sz="1300" dirty="0"/>
          </a:p>
        </p:txBody>
      </p:sp>
      <p:sp>
        <p:nvSpPr>
          <p:cNvPr id="29" name="Shape 27"/>
          <p:cNvSpPr/>
          <p:nvPr/>
        </p:nvSpPr>
        <p:spPr>
          <a:xfrm>
            <a:off x="8132064" y="3886200"/>
            <a:ext cx="3416808" cy="1874520"/>
          </a:xfrm>
          <a:prstGeom prst="roundRect">
            <a:avLst>
              <a:gd name="adj" fmla="val 4878"/>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txBody>
          <a:bodyPr/>
          <a:p/>
        </p:txBody>
      </p:sp>
      <p:sp>
        <p:nvSpPr>
          <p:cNvPr id="30" name="Shape 28"/>
          <p:cNvSpPr/>
          <p:nvPr/>
        </p:nvSpPr>
        <p:spPr>
          <a:xfrm>
            <a:off x="8406384" y="4142232"/>
            <a:ext cx="457200" cy="457200"/>
          </a:xfrm>
          <a:prstGeom prst="ellipse">
            <a:avLst/>
          </a:prstGeom>
          <a:solidFill>
            <a:srgbClr val="F5C518"/>
          </a:solidFill>
          <a:ln/>
        </p:spPr>
        <p:txBody>
          <a:bodyPr/>
          <a:p/>
        </p:txBody>
      </p:sp>
      <p:sp>
        <p:nvSpPr>
          <p:cNvPr id="31" name="Text 29"/>
          <p:cNvSpPr/>
          <p:nvPr/>
        </p:nvSpPr>
        <p:spPr>
          <a:xfrm>
            <a:off x="8406384" y="4142232"/>
            <a:ext cx="457200" cy="457200"/>
          </a:xfrm>
          <a:prstGeom prst="rect">
            <a:avLst/>
          </a:prstGeom>
          <a:noFill/>
          <a:ln/>
        </p:spPr>
        <p:txBody>
          <a:bodyPr wrap="square" lIns="0" tIns="0" rIns="0" bIns="0" rtlCol="0" anchor="ctr"/>
          <a:lstStyle/>
          <a:p>
            <a:pPr algn="ctr" indent="0" marL="0">
              <a:buNone/>
            </a:pPr>
            <a:r>
              <a:rPr lang="en-US" sz="1400" b="1" dirty="0">
                <a:solidFill>
                  <a:srgbClr val="1C1E21"/>
                </a:solidFill>
                <a:latin typeface="Arial" pitchFamily="34" charset="0"/>
                <a:ea typeface="Arial" pitchFamily="34" charset="-122"/>
                <a:cs typeface="Arial" pitchFamily="34" charset="-120"/>
              </a:rPr>
              <a:t>6</a:t>
            </a:r>
            <a:endParaRPr lang="en-US" sz="1400" dirty="0"/>
          </a:p>
        </p:txBody>
      </p:sp>
      <p:sp>
        <p:nvSpPr>
          <p:cNvPr id="32" name="Text 30"/>
          <p:cNvSpPr/>
          <p:nvPr/>
        </p:nvSpPr>
        <p:spPr>
          <a:xfrm>
            <a:off x="8973312" y="4160520"/>
            <a:ext cx="2301240" cy="457200"/>
          </a:xfrm>
          <a:prstGeom prst="rect">
            <a:avLst/>
          </a:prstGeom>
          <a:noFill/>
          <a:ln/>
        </p:spPr>
        <p:txBody>
          <a:bodyPr wrap="square" lIns="0" tIns="0" rIns="0" bIns="0" rtlCol="0" anchor="ctr"/>
          <a:lstStyle/>
          <a:p>
            <a:pPr indent="0" marL="0">
              <a:buNone/>
            </a:pPr>
            <a:r>
              <a:rPr lang="en-US" sz="1450" b="1" dirty="0">
                <a:solidFill>
                  <a:srgbClr val="1C1E21"/>
                </a:solidFill>
                <a:latin typeface="Arial" pitchFamily="34" charset="0"/>
                <a:ea typeface="Arial" pitchFamily="34" charset="-122"/>
                <a:cs typeface="Arial" pitchFamily="34" charset="-120"/>
              </a:rPr>
              <a:t>Long-document triage</a:t>
            </a:r>
            <a:endParaRPr lang="en-US" sz="1450" dirty="0"/>
          </a:p>
        </p:txBody>
      </p:sp>
      <p:sp>
        <p:nvSpPr>
          <p:cNvPr id="33" name="Text 31"/>
          <p:cNvSpPr/>
          <p:nvPr/>
        </p:nvSpPr>
        <p:spPr>
          <a:xfrm>
            <a:off x="8406384" y="4782312"/>
            <a:ext cx="2868168" cy="822960"/>
          </a:xfrm>
          <a:prstGeom prst="rect">
            <a:avLst/>
          </a:prstGeom>
          <a:noFill/>
          <a:ln/>
        </p:spPr>
        <p:txBody>
          <a:bodyPr wrap="square" lIns="0" tIns="0" rIns="0" bIns="0" rtlCol="0" anchor="t"/>
          <a:lstStyle/>
          <a:p>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A 40-page policy, research paper or set of meeting minutes cut down to what touches your caseload.</a:t>
            </a:r>
            <a:endParaRPr lang="en-US" sz="1300" dirty="0"/>
          </a:p>
        </p:txBody>
      </p:sp>
      <p:sp>
        <p:nvSpPr>
          <p:cNvPr id="34" name="Text 32"/>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Every one of these starts with your professional thinking and ends with your professional edit. The forklift carries the load. It does not decide where the load goes.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THE BEST TRICK ON THIS SLIDE DECK</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Crash-test the task before the student does.</a:t>
            </a:r>
            <a:endParaRPr lang="en-US" sz="3300" dirty="0"/>
          </a:p>
        </p:txBody>
      </p:sp>
      <p:sp>
        <p:nvSpPr>
          <p:cNvPr id="4" name="Text 2"/>
          <p:cNvSpPr/>
          <p:nvPr/>
        </p:nvSpPr>
        <p:spPr>
          <a:xfrm>
            <a:off x="640080" y="1572768"/>
            <a:ext cx="10908792" cy="457200"/>
          </a:xfrm>
          <a:prstGeom prst="rect">
            <a:avLst/>
          </a:prstGeom>
          <a:noFill/>
          <a:ln/>
        </p:spPr>
        <p:txBody>
          <a:bodyPr wrap="square" lIns="0" tIns="0" rIns="0" bIns="0" rtlCol="0" anchor="t"/>
          <a:lstStyle/>
          <a:p>
            <a:pPr indent="0" marL="0">
              <a:buNone/>
            </a:pPr>
            <a:r>
              <a:rPr lang="en-US" sz="1500" dirty="0">
                <a:solidFill>
                  <a:srgbClr val="45484C"/>
                </a:solidFill>
                <a:latin typeface="Calibri" pitchFamily="34" charset="0"/>
                <a:ea typeface="Calibri" pitchFamily="34" charset="-122"/>
                <a:cs typeface="Calibri" pitchFamily="34" charset="-120"/>
              </a:rPr>
              <a:t>The highest-value prompt in learning support isn't "make me a worksheet". It's asking the model to fail at your task on purpose.</a:t>
            </a:r>
            <a:endParaRPr lang="en-US" sz="1500" dirty="0"/>
          </a:p>
        </p:txBody>
      </p:sp>
      <p:sp>
        <p:nvSpPr>
          <p:cNvPr id="5" name="Shape 3"/>
          <p:cNvSpPr/>
          <p:nvPr/>
        </p:nvSpPr>
        <p:spPr>
          <a:xfrm>
            <a:off x="640080" y="2148840"/>
            <a:ext cx="6812280" cy="2651760"/>
          </a:xfrm>
          <a:prstGeom prst="roundRect">
            <a:avLst>
              <a:gd name="adj" fmla="val 3448"/>
            </a:avLst>
          </a:prstGeom>
          <a:solidFill>
            <a:srgbClr val="1C1E21"/>
          </a:solidFill>
          <a:ln/>
        </p:spPr>
      </p:sp>
      <p:sp>
        <p:nvSpPr>
          <p:cNvPr id="6" name="Text 4"/>
          <p:cNvSpPr/>
          <p:nvPr/>
        </p:nvSpPr>
        <p:spPr>
          <a:xfrm>
            <a:off x="1005840" y="2377440"/>
            <a:ext cx="6080760" cy="274320"/>
          </a:xfrm>
          <a:prstGeom prst="rect">
            <a:avLst/>
          </a:prstGeom>
          <a:noFill/>
          <a:ln/>
        </p:spPr>
        <p:txBody>
          <a:bodyPr wrap="square" lIns="0" tIns="0" rIns="0" bIns="0" rtlCol="0" anchor="ctr"/>
          <a:lstStyle/>
          <a:p>
            <a:pPr indent="0" marL="0">
              <a:buNone/>
            </a:pPr>
            <a:r>
              <a:rPr lang="en-US" sz="1100" b="1" spc="200" kern="0" dirty="0">
                <a:solidFill>
                  <a:srgbClr val="F5C518"/>
                </a:solidFill>
                <a:latin typeface="Arial" pitchFamily="34" charset="0"/>
                <a:ea typeface="Arial" pitchFamily="34" charset="-122"/>
                <a:cs typeface="Arial" pitchFamily="34" charset="-120"/>
              </a:rPr>
              <a:t>STEP 1 — MAKE IT BREAK</a:t>
            </a:r>
            <a:endParaRPr lang="en-US" sz="1100" dirty="0"/>
          </a:p>
        </p:txBody>
      </p:sp>
      <p:sp>
        <p:nvSpPr>
          <p:cNvPr id="7" name="Text 5"/>
          <p:cNvSpPr/>
          <p:nvPr/>
        </p:nvSpPr>
        <p:spPr>
          <a:xfrm>
            <a:off x="1005840" y="2788920"/>
            <a:ext cx="6080760" cy="1828800"/>
          </a:xfrm>
          <a:prstGeom prst="rect">
            <a:avLst/>
          </a:prstGeom>
          <a:noFill/>
          <a:ln/>
        </p:spPr>
        <p:txBody>
          <a:bodyPr wrap="square" lIns="0" tIns="0" rIns="0" bIns="0" rtlCol="0" anchor="t"/>
          <a:lstStyle/>
          <a:p>
            <a:pPr indent="0" marL="0">
              <a:lnSpc>
                <a:spcPct val="125000"/>
              </a:lnSpc>
              <a:buNone/>
            </a:pPr>
            <a:r>
              <a:rPr lang="en-US" sz="1350" dirty="0">
                <a:solidFill>
                  <a:srgbClr val="FFFFFF"/>
                </a:solidFill>
                <a:latin typeface="Calibri" pitchFamily="34" charset="0"/>
                <a:ea typeface="Calibri" pitchFamily="34" charset="-122"/>
                <a:cs typeface="Calibri" pitchFamily="34" charset="-120"/>
              </a:rPr>
              <a:t>“You're a Year 7 student with weak working memory and slow processing. Below is a task I've written. Work through it step by step as that student and tell me the exact points where you'd get stuck, give up, or need to re-read. Don't fix it yet — just show me where it breaks.”</a:t>
            </a:r>
            <a:endParaRPr lang="en-US" sz="1350" dirty="0"/>
          </a:p>
        </p:txBody>
      </p:sp>
      <p:sp>
        <p:nvSpPr>
          <p:cNvPr id="8" name="Shape 6"/>
          <p:cNvSpPr/>
          <p:nvPr/>
        </p:nvSpPr>
        <p:spPr>
          <a:xfrm>
            <a:off x="7818120" y="2148840"/>
            <a:ext cx="3730752" cy="2651760"/>
          </a:xfrm>
          <a:prstGeom prst="roundRect">
            <a:avLst>
              <a:gd name="adj" fmla="val 3448"/>
            </a:avLst>
          </a:prstGeom>
          <a:solidFill>
            <a:srgbClr val="F5F5F2"/>
          </a:solidFill>
          <a:ln w="12700">
            <a:solidFill>
              <a:srgbClr val="E4E4DE"/>
            </a:solidFill>
            <a:prstDash val="solid"/>
          </a:ln>
        </p:spPr>
      </p:sp>
      <p:sp>
        <p:nvSpPr>
          <p:cNvPr id="9" name="Text 7"/>
          <p:cNvSpPr/>
          <p:nvPr/>
        </p:nvSpPr>
        <p:spPr>
          <a:xfrm>
            <a:off x="8183880" y="2377440"/>
            <a:ext cx="2999232" cy="274320"/>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STEP 2 — ONLY THEN, FIX</a:t>
            </a:r>
            <a:endParaRPr lang="en-US" sz="1100" dirty="0"/>
          </a:p>
        </p:txBody>
      </p:sp>
      <p:sp>
        <p:nvSpPr>
          <p:cNvPr id="10" name="Text 8"/>
          <p:cNvSpPr/>
          <p:nvPr/>
        </p:nvSpPr>
        <p:spPr>
          <a:xfrm>
            <a:off x="8183880" y="2788920"/>
            <a:ext cx="2999232" cy="1828800"/>
          </a:xfrm>
          <a:prstGeom prst="rect">
            <a:avLst/>
          </a:prstGeom>
          <a:noFill/>
          <a:ln/>
        </p:spPr>
        <p:txBody>
          <a:bodyPr wrap="square" lIns="0" tIns="0" rIns="0" bIns="0" rtlCol="0" anchor="t"/>
          <a:lstStyle/>
          <a:p>
            <a:pPr indent="0" marL="0">
              <a:lnSpc>
                <a:spcPct val="125000"/>
              </a:lnSpc>
              <a:buNone/>
            </a:pPr>
            <a:r>
              <a:rPr lang="en-US" sz="1350" dirty="0">
                <a:solidFill>
                  <a:srgbClr val="1C1E21"/>
                </a:solidFill>
                <a:latin typeface="Calibri" pitchFamily="34" charset="0"/>
                <a:ea typeface="Calibri" pitchFamily="34" charset="-122"/>
                <a:cs typeface="Calibri" pitchFamily="34" charset="-120"/>
              </a:rPr>
              <a:t>“Now suggest three adjustments, ranked by how little they change the task for everyone else.”</a:t>
            </a:r>
            <a:endParaRPr lang="en-US" sz="1350" dirty="0"/>
          </a:p>
        </p:txBody>
      </p:sp>
      <p:sp>
        <p:nvSpPr>
          <p:cNvPr id="11" name="Text 9"/>
          <p:cNvSpPr/>
          <p:nvPr/>
        </p:nvSpPr>
        <p:spPr>
          <a:xfrm>
            <a:off x="640080" y="5120640"/>
            <a:ext cx="3416808" cy="822960"/>
          </a:xfrm>
          <a:prstGeom prst="rect">
            <a:avLst/>
          </a:prstGeom>
          <a:noFill/>
          <a:ln/>
        </p:spPr>
        <p:txBody>
          <a:bodyPr wrap="square" lIns="0" tIns="0" rIns="0" bIns="0" rtlCol="0" anchor="t"/>
          <a:lstStyle/>
          <a:p>
            <a:pPr indent="0" marL="0">
              <a:lnSpc>
                <a:spcPct val="122000"/>
              </a:lnSpc>
              <a:buNone/>
            </a:pPr>
            <a:r>
              <a:rPr lang="en-US" sz="1300" b="1" dirty="0">
                <a:solidFill>
                  <a:srgbClr val="1C1E21"/>
                </a:solidFill>
                <a:latin typeface="Calibri" pitchFamily="34" charset="0"/>
                <a:ea typeface="Calibri" pitchFamily="34" charset="-122"/>
                <a:cs typeface="Calibri" pitchFamily="34" charset="-120"/>
              </a:rPr>
              <a:t>It stress-tests your design </a:t>
            </a:r>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 not replaces it. You still wrote the task.</a:t>
            </a:r>
            <a:endParaRPr lang="en-US" sz="1300" dirty="0"/>
          </a:p>
        </p:txBody>
      </p:sp>
      <p:sp>
        <p:nvSpPr>
          <p:cNvPr id="12" name="Text 10"/>
          <p:cNvSpPr/>
          <p:nvPr/>
        </p:nvSpPr>
        <p:spPr>
          <a:xfrm>
            <a:off x="4386072" y="5120640"/>
            <a:ext cx="3416808" cy="822960"/>
          </a:xfrm>
          <a:prstGeom prst="rect">
            <a:avLst/>
          </a:prstGeom>
          <a:noFill/>
          <a:ln/>
        </p:spPr>
        <p:txBody>
          <a:bodyPr wrap="square" lIns="0" tIns="0" rIns="0" bIns="0" rtlCol="0" anchor="t"/>
          <a:lstStyle/>
          <a:p>
            <a:pPr indent="0" marL="0">
              <a:lnSpc>
                <a:spcPct val="122000"/>
              </a:lnSpc>
              <a:buNone/>
            </a:pPr>
            <a:r>
              <a:rPr lang="en-US" sz="1300" b="1" dirty="0">
                <a:solidFill>
                  <a:srgbClr val="1C1E21"/>
                </a:solidFill>
                <a:latin typeface="Calibri" pitchFamily="34" charset="0"/>
                <a:ea typeface="Calibri" pitchFamily="34" charset="-122"/>
                <a:cs typeface="Calibri" pitchFamily="34" charset="-120"/>
              </a:rPr>
              <a:t>No student data needed </a:t>
            </a:r>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 the profile is generic by construction.</a:t>
            </a:r>
            <a:endParaRPr lang="en-US" sz="1300" dirty="0"/>
          </a:p>
        </p:txBody>
      </p:sp>
      <p:sp>
        <p:nvSpPr>
          <p:cNvPr id="13" name="Text 11"/>
          <p:cNvSpPr/>
          <p:nvPr/>
        </p:nvSpPr>
        <p:spPr>
          <a:xfrm>
            <a:off x="8132064" y="5120640"/>
            <a:ext cx="3416808" cy="822960"/>
          </a:xfrm>
          <a:prstGeom prst="rect">
            <a:avLst/>
          </a:prstGeom>
          <a:noFill/>
          <a:ln/>
        </p:spPr>
        <p:txBody>
          <a:bodyPr wrap="square" lIns="0" tIns="0" rIns="0" bIns="0" rtlCol="0" anchor="t"/>
          <a:lstStyle/>
          <a:p>
            <a:pPr indent="0" marL="0">
              <a:lnSpc>
                <a:spcPct val="122000"/>
              </a:lnSpc>
              <a:buNone/>
            </a:pPr>
            <a:r>
              <a:rPr lang="en-US" sz="1300" b="1" dirty="0">
                <a:solidFill>
                  <a:srgbClr val="1C1E21"/>
                </a:solidFill>
                <a:latin typeface="Calibri" pitchFamily="34" charset="0"/>
                <a:ea typeface="Calibri" pitchFamily="34" charset="-122"/>
                <a:cs typeface="Calibri" pitchFamily="34" charset="-120"/>
              </a:rPr>
              <a:t>You keep the decision </a:t>
            </a:r>
            <a:pPr indent="0" marL="0">
              <a:lnSpc>
                <a:spcPct val="122000"/>
              </a:lnSpc>
              <a:buNone/>
            </a:pPr>
            <a:r>
              <a:rPr lang="en-US" sz="1300" dirty="0">
                <a:solidFill>
                  <a:srgbClr val="45484C"/>
                </a:solidFill>
                <a:latin typeface="Calibri" pitchFamily="34" charset="0"/>
                <a:ea typeface="Calibri" pitchFamily="34" charset="-122"/>
                <a:cs typeface="Calibri" pitchFamily="34" charset="-120"/>
              </a:rPr>
              <a:t>— it hands you options; you pick and adapt.</a:t>
            </a:r>
            <a:endParaRPr lang="en-US" sz="1300" dirty="0"/>
          </a:p>
        </p:txBody>
      </p:sp>
      <p:sp>
        <p:nvSpPr>
          <p:cNvPr id="14" name="Text 12"/>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You are still the one who decides what the fix is. It just found the potholes faster than a read-through would.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E21"/>
        </a:solidFill>
      </p:bgPr>
    </p:bg>
    <p:spTree>
      <p:nvGrpSpPr>
        <p:cNvPr id="1" name=""/>
        <p:cNvGrpSpPr/>
        <p:nvPr/>
      </p:nvGrpSpPr>
      <p:grpSpPr>
        <a:xfrm>
          <a:off x="0" y="0"/>
          <a:ext cx="0" cy="0"/>
          <a:chOff x="0" y="0"/>
          <a:chExt cx="0" cy="0"/>
        </a:xfrm>
      </p:grpSpPr>
      <p:pic>
        <p:nvPicPr>
          <p:cNvPr id="7" name="Picture 6" descr="image_c_crash.png"/>
          <p:cNvPicPr>
            <a:picLocks noChangeAspect="1"/>
          </p:cNvPicPr>
          <p:nvPr/>
        </p:nvPicPr>
        <p:blipFill>
          <a:blip r:embed="rId3"/>
          <a:stretch>
            <a:fillRect/>
          </a:stretch>
        </p:blipFill>
        <p:spPr>
          <a:xfrm>
            <a:off x="6888449" y="0"/>
            <a:ext cx="5303520" cy="6858000"/>
          </a:xfrm>
          <a:prstGeom prst="rect">
            <a:avLst/>
          </a:prstGeom>
        </p:spPr>
      </p:pic>
      <p:sp>
        <p:nvSpPr>
          <p:cNvPr id="2" name="Shape 0"/>
          <p:cNvSpPr/>
          <p:nvPr/>
        </p:nvSpPr>
        <p:spPr>
          <a:xfrm>
            <a:off x="822960" y="1371600"/>
            <a:ext cx="658368" cy="658368"/>
          </a:xfrm>
          <a:prstGeom prst="ellipse">
            <a:avLst/>
          </a:prstGeom>
          <a:solidFill>
            <a:srgbClr val="F5C518"/>
          </a:solidFill>
          <a:ln/>
        </p:spPr>
        <p:txBody>
          <a:bodyPr/>
          <a:p/>
        </p:txBody>
      </p:sp>
      <p:sp>
        <p:nvSpPr>
          <p:cNvPr id="3" name="Text 1"/>
          <p:cNvSpPr/>
          <p:nvPr/>
        </p:nvSpPr>
        <p:spPr>
          <a:xfrm>
            <a:off x="822960" y="1371600"/>
            <a:ext cx="658368" cy="658368"/>
          </a:xfrm>
          <a:prstGeom prst="rect">
            <a:avLst/>
          </a:prstGeom>
          <a:noFill/>
          <a:ln/>
        </p:spPr>
        <p:txBody>
          <a:bodyPr wrap="square" lIns="0" tIns="0" rIns="0" bIns="0" rtlCol="0" anchor="ctr"/>
          <a:lstStyle/>
          <a:p>
            <a:pPr algn="ctr" indent="0" marL="0">
              <a:buNone/>
            </a:pPr>
            <a:r>
              <a:rPr lang="en-US" sz="2200" b="1" dirty="0">
                <a:solidFill>
                  <a:srgbClr val="1C1E21"/>
                </a:solidFill>
                <a:latin typeface="Arial" pitchFamily="34" charset="0"/>
                <a:ea typeface="Arial" pitchFamily="34" charset="-122"/>
                <a:cs typeface="Arial" pitchFamily="34" charset="-120"/>
              </a:rPr>
              <a:t>03</a:t>
            </a:r>
            <a:endParaRPr lang="en-US" sz="2200" dirty="0"/>
          </a:p>
        </p:txBody>
      </p:sp>
      <p:sp>
        <p:nvSpPr>
          <p:cNvPr id="4" name="Text 2"/>
          <p:cNvSpPr/>
          <p:nvPr/>
        </p:nvSpPr>
        <p:spPr>
          <a:xfrm>
            <a:off x="1691640" y="1490472"/>
            <a:ext cx="4709160" cy="411480"/>
          </a:xfrm>
          <a:prstGeom prst="rect">
            <a:avLst/>
          </a:prstGeom>
          <a:noFill/>
          <a:ln/>
        </p:spPr>
        <p:txBody>
          <a:bodyPr wrap="square" lIns="0" tIns="0" rIns="0" bIns="0" rtlCol="0" anchor="ctr"/>
          <a:lstStyle/>
          <a:p>
            <a:pPr indent="0" marL="0">
              <a:buNone/>
            </a:pPr>
            <a:r>
              <a:rPr lang="en-US" sz="1400" b="1" spc="300" kern="0" dirty="0">
                <a:solidFill>
                  <a:srgbClr val="F5C518"/>
                </a:solidFill>
                <a:latin typeface="Arial" pitchFamily="34" charset="0"/>
                <a:ea typeface="Arial" pitchFamily="34" charset="-122"/>
                <a:cs typeface="Arial" pitchFamily="34" charset="-120"/>
              </a:rPr>
              <a:t>THE CRASH</a:t>
            </a:r>
            <a:endParaRPr lang="en-US" sz="1400" dirty="0"/>
          </a:p>
        </p:txBody>
      </p:sp>
      <p:sp>
        <p:nvSpPr>
          <p:cNvPr id="5" name="Text 3"/>
          <p:cNvSpPr/>
          <p:nvPr/>
        </p:nvSpPr>
        <p:spPr>
          <a:xfrm>
            <a:off x="822960" y="2377440"/>
            <a:ext cx="5760720" cy="2011680"/>
          </a:xfrm>
          <a:prstGeom prst="rect">
            <a:avLst/>
          </a:prstGeom>
          <a:noFill/>
          <a:ln/>
        </p:spPr>
        <p:txBody>
          <a:bodyPr wrap="square" lIns="0" tIns="0" rIns="0" bIns="0" rtlCol="0" anchor="t"/>
          <a:lstStyle/>
          <a:p>
            <a:pPr indent="0" marL="0">
              <a:lnSpc>
                <a:spcPct val="112000"/>
              </a:lnSpc>
              <a:buNone/>
            </a:pPr>
            <a:r>
              <a:rPr lang="en-US" sz="3000" b="1" dirty="0">
                <a:solidFill>
                  <a:srgbClr val="FFFFFF"/>
                </a:solidFill>
                <a:latin typeface="Arial" pitchFamily="34" charset="0"/>
                <a:ea typeface="Arial" pitchFamily="34" charset="-122"/>
                <a:cs typeface="Arial" pitchFamily="34" charset="-120"/>
              </a:rPr>
              <a:t>Nobody crashes on purpose. They crash going faster than their brakes.</a:t>
            </a:r>
            <a:endParaRPr lang="en-US" sz="3000" dirty="0"/>
          </a:p>
        </p:txBody>
      </p:sp>
      <p:sp>
        <p:nvSpPr>
          <p:cNvPr id="6" name="Text 4"/>
          <p:cNvSpPr/>
          <p:nvPr/>
        </p:nvSpPr>
        <p:spPr>
          <a:xfrm>
            <a:off x="822960" y="4572000"/>
            <a:ext cx="5760720" cy="1371600"/>
          </a:xfrm>
          <a:prstGeom prst="rect">
            <a:avLst/>
          </a:prstGeom>
          <a:noFill/>
          <a:ln/>
        </p:spPr>
        <p:txBody>
          <a:bodyPr wrap="square" lIns="0" tIns="0" rIns="0" bIns="0" rtlCol="0" anchor="t"/>
          <a:lstStyle/>
          <a:p>
            <a:pPr indent="0" marL="0">
              <a:lnSpc>
                <a:spcPct val="130000"/>
              </a:lnSpc>
              <a:buNone/>
            </a:pPr>
            <a:r>
              <a:rPr lang="en-US" sz="1500" dirty="0">
                <a:solidFill>
                  <a:srgbClr val="9AA0A6"/>
                </a:solidFill>
                <a:latin typeface="Calibri" pitchFamily="34" charset="0"/>
                <a:ea typeface="Calibri" pitchFamily="34" charset="-122"/>
                <a:cs typeface="Calibri" pitchFamily="34" charset="-120"/>
              </a:rPr>
              <a:t>Three crashes matter in our work. One is loud and obvious. One is embarrassing. The third one is quiet, and it's the one that actually costs a kid something.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FAILURE MODES</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Three ways this goes wrong in learning support.</a:t>
            </a:r>
            <a:endParaRPr lang="en-US" sz="3300" dirty="0"/>
          </a:p>
        </p:txBody>
      </p:sp>
      <p:sp>
        <p:nvSpPr>
          <p:cNvPr id="4" name="Shape 2"/>
          <p:cNvSpPr/>
          <p:nvPr/>
        </p:nvSpPr>
        <p:spPr>
          <a:xfrm>
            <a:off x="640080" y="1737360"/>
            <a:ext cx="3416808" cy="402336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sp>
      <p:sp>
        <p:nvSpPr>
          <p:cNvPr id="5" name="Text 3"/>
          <p:cNvSpPr/>
          <p:nvPr/>
        </p:nvSpPr>
        <p:spPr>
          <a:xfrm>
            <a:off x="987552" y="2011680"/>
            <a:ext cx="2721864" cy="292608"/>
          </a:xfrm>
          <a:prstGeom prst="rect">
            <a:avLst/>
          </a:prstGeom>
          <a:noFill/>
          <a:ln/>
        </p:spPr>
        <p:txBody>
          <a:bodyPr wrap="square" lIns="0" tIns="0" rIns="0" bIns="0" rtlCol="0" anchor="ctr"/>
          <a:lstStyle/>
          <a:p>
            <a:pPr indent="0" marL="0">
              <a:buNone/>
            </a:pPr>
            <a:r>
              <a:rPr lang="en-US" sz="1400" b="1" spc="100" kern="0" dirty="0">
                <a:solidFill>
                  <a:srgbClr val="C8402F"/>
                </a:solidFill>
                <a:latin typeface="Arial" pitchFamily="34" charset="0"/>
                <a:ea typeface="Arial" pitchFamily="34" charset="-122"/>
                <a:cs typeface="Arial" pitchFamily="34" charset="-120"/>
              </a:rPr>
              <a:t>THE PRIVACY CRASH</a:t>
            </a:r>
            <a:endParaRPr lang="en-US" sz="1400" dirty="0"/>
          </a:p>
        </p:txBody>
      </p:sp>
      <p:sp>
        <p:nvSpPr>
          <p:cNvPr id="6" name="Text 4"/>
          <p:cNvSpPr/>
          <p:nvPr/>
        </p:nvSpPr>
        <p:spPr>
          <a:xfrm>
            <a:off x="987552" y="2359152"/>
            <a:ext cx="2721864" cy="256032"/>
          </a:xfrm>
          <a:prstGeom prst="rect">
            <a:avLst/>
          </a:prstGeom>
          <a:noFill/>
          <a:ln/>
        </p:spPr>
        <p:txBody>
          <a:bodyPr wrap="square" lIns="0" tIns="0" rIns="0" bIns="0" rtlCol="0" anchor="ctr"/>
          <a:lstStyle/>
          <a:p>
            <a:pPr indent="0" marL="0">
              <a:buNone/>
            </a:pPr>
            <a:r>
              <a:rPr lang="en-US" sz="1050" b="1" spc="200" kern="0" dirty="0">
                <a:solidFill>
                  <a:srgbClr val="6B7075"/>
                </a:solidFill>
                <a:latin typeface="Arial" pitchFamily="34" charset="0"/>
                <a:ea typeface="Arial" pitchFamily="34" charset="-122"/>
                <a:cs typeface="Arial" pitchFamily="34" charset="-120"/>
              </a:rPr>
              <a:t>LOUD</a:t>
            </a:r>
            <a:endParaRPr lang="en-US" sz="1050" dirty="0"/>
          </a:p>
        </p:txBody>
      </p:sp>
      <p:sp>
        <p:nvSpPr>
          <p:cNvPr id="7" name="Text 5"/>
          <p:cNvSpPr/>
          <p:nvPr/>
        </p:nvSpPr>
        <p:spPr>
          <a:xfrm>
            <a:off x="987552" y="2788920"/>
            <a:ext cx="2721864" cy="192024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You paste the real thing — a name, a report excerpt, case-meeting notes, a screenshot with a face in the corner. It leaves your control the moment you press enter, and there is no un-sending it.</a:t>
            </a:r>
            <a:endParaRPr lang="en-US" sz="1350" dirty="0"/>
          </a:p>
        </p:txBody>
      </p:sp>
      <p:sp>
        <p:nvSpPr>
          <p:cNvPr id="8" name="Text 6"/>
          <p:cNvSpPr/>
          <p:nvPr/>
        </p:nvSpPr>
        <p:spPr>
          <a:xfrm>
            <a:off x="987552" y="5029200"/>
            <a:ext cx="2721864" cy="548640"/>
          </a:xfrm>
          <a:prstGeom prst="rect">
            <a:avLst/>
          </a:prstGeom>
          <a:noFill/>
          <a:ln/>
        </p:spPr>
        <p:txBody>
          <a:bodyPr wrap="square" lIns="0" tIns="0" rIns="0" bIns="0" rtlCol="0" anchor="t"/>
          <a:lstStyle/>
          <a:p>
            <a:pPr indent="0" marL="0">
              <a:lnSpc>
                <a:spcPct val="120000"/>
              </a:lnSpc>
              <a:buNone/>
            </a:pPr>
            <a:r>
              <a:rPr lang="en-US" sz="1300" b="1" i="1" dirty="0">
                <a:solidFill>
                  <a:srgbClr val="1C1E21"/>
                </a:solidFill>
                <a:latin typeface="Calibri" pitchFamily="34" charset="0"/>
                <a:ea typeface="Calibri" pitchFamily="34" charset="-122"/>
                <a:cs typeface="Calibri" pitchFamily="34" charset="-120"/>
              </a:rPr>
              <a:t>Biggest risk. Easiest to avoid.</a:t>
            </a:r>
            <a:endParaRPr lang="en-US" sz="1300" dirty="0"/>
          </a:p>
        </p:txBody>
      </p:sp>
      <p:sp>
        <p:nvSpPr>
          <p:cNvPr id="9" name="Shape 7"/>
          <p:cNvSpPr/>
          <p:nvPr/>
        </p:nvSpPr>
        <p:spPr>
          <a:xfrm>
            <a:off x="4386072" y="1737360"/>
            <a:ext cx="3416808" cy="402336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sp>
      <p:sp>
        <p:nvSpPr>
          <p:cNvPr id="10" name="Text 8"/>
          <p:cNvSpPr/>
          <p:nvPr/>
        </p:nvSpPr>
        <p:spPr>
          <a:xfrm>
            <a:off x="4733544" y="2011680"/>
            <a:ext cx="2721864" cy="292608"/>
          </a:xfrm>
          <a:prstGeom prst="rect">
            <a:avLst/>
          </a:prstGeom>
          <a:noFill/>
          <a:ln/>
        </p:spPr>
        <p:txBody>
          <a:bodyPr wrap="square" lIns="0" tIns="0" rIns="0" bIns="0" rtlCol="0" anchor="ctr"/>
          <a:lstStyle/>
          <a:p>
            <a:pPr indent="0" marL="0">
              <a:buNone/>
            </a:pPr>
            <a:r>
              <a:rPr lang="en-US" sz="1400" b="1" spc="100" kern="0" dirty="0">
                <a:solidFill>
                  <a:srgbClr val="C8402F"/>
                </a:solidFill>
                <a:latin typeface="Arial" pitchFamily="34" charset="0"/>
                <a:ea typeface="Arial" pitchFamily="34" charset="-122"/>
                <a:cs typeface="Arial" pitchFamily="34" charset="-120"/>
              </a:rPr>
              <a:t>THE ACCURACY CRASH</a:t>
            </a:r>
            <a:endParaRPr lang="en-US" sz="1400" dirty="0"/>
          </a:p>
        </p:txBody>
      </p:sp>
      <p:sp>
        <p:nvSpPr>
          <p:cNvPr id="11" name="Text 9"/>
          <p:cNvSpPr/>
          <p:nvPr/>
        </p:nvSpPr>
        <p:spPr>
          <a:xfrm>
            <a:off x="4733544" y="2359152"/>
            <a:ext cx="2721864" cy="256032"/>
          </a:xfrm>
          <a:prstGeom prst="rect">
            <a:avLst/>
          </a:prstGeom>
          <a:noFill/>
          <a:ln/>
        </p:spPr>
        <p:txBody>
          <a:bodyPr wrap="square" lIns="0" tIns="0" rIns="0" bIns="0" rtlCol="0" anchor="ctr"/>
          <a:lstStyle/>
          <a:p>
            <a:pPr indent="0" marL="0">
              <a:buNone/>
            </a:pPr>
            <a:r>
              <a:rPr lang="en-US" sz="1050" b="1" spc="200" kern="0" dirty="0">
                <a:solidFill>
                  <a:srgbClr val="6B7075"/>
                </a:solidFill>
                <a:latin typeface="Arial" pitchFamily="34" charset="0"/>
                <a:ea typeface="Arial" pitchFamily="34" charset="-122"/>
                <a:cs typeface="Arial" pitchFamily="34" charset="-120"/>
              </a:rPr>
              <a:t>EMBARRASSING</a:t>
            </a:r>
            <a:endParaRPr lang="en-US" sz="1050" dirty="0"/>
          </a:p>
        </p:txBody>
      </p:sp>
      <p:sp>
        <p:nvSpPr>
          <p:cNvPr id="12" name="Text 10"/>
          <p:cNvSpPr/>
          <p:nvPr/>
        </p:nvSpPr>
        <p:spPr>
          <a:xfrm>
            <a:off x="4733544" y="2788920"/>
            <a:ext cx="2721864" cy="192024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It invents a strategy, a diagnostic criterion, a percentile, a policy clause, a reference. It will sound exactly like the textbook. It will not be in the textbook.</a:t>
            </a:r>
            <a:endParaRPr lang="en-US" sz="1350" dirty="0"/>
          </a:p>
        </p:txBody>
      </p:sp>
      <p:sp>
        <p:nvSpPr>
          <p:cNvPr id="13" name="Text 11"/>
          <p:cNvSpPr/>
          <p:nvPr/>
        </p:nvSpPr>
        <p:spPr>
          <a:xfrm>
            <a:off x="4733544" y="5029200"/>
            <a:ext cx="2721864" cy="548640"/>
          </a:xfrm>
          <a:prstGeom prst="rect">
            <a:avLst/>
          </a:prstGeom>
          <a:noFill/>
          <a:ln/>
        </p:spPr>
        <p:txBody>
          <a:bodyPr wrap="square" lIns="0" tIns="0" rIns="0" bIns="0" rtlCol="0" anchor="t"/>
          <a:lstStyle/>
          <a:p>
            <a:pPr indent="0" marL="0">
              <a:lnSpc>
                <a:spcPct val="120000"/>
              </a:lnSpc>
              <a:buNone/>
            </a:pPr>
            <a:r>
              <a:rPr lang="en-US" sz="1300" b="1" i="1" dirty="0">
                <a:solidFill>
                  <a:srgbClr val="1C1E21"/>
                </a:solidFill>
                <a:latin typeface="Calibri" pitchFamily="34" charset="0"/>
                <a:ea typeface="Calibri" pitchFamily="34" charset="-122"/>
                <a:cs typeface="Calibri" pitchFamily="34" charset="-120"/>
              </a:rPr>
              <a:t>Costs you credibility in a meeting.</a:t>
            </a:r>
            <a:endParaRPr lang="en-US" sz="1300" dirty="0"/>
          </a:p>
        </p:txBody>
      </p:sp>
      <p:sp>
        <p:nvSpPr>
          <p:cNvPr id="14" name="Shape 12"/>
          <p:cNvSpPr/>
          <p:nvPr/>
        </p:nvSpPr>
        <p:spPr>
          <a:xfrm>
            <a:off x="8132064" y="1737360"/>
            <a:ext cx="3416808" cy="4023360"/>
          </a:xfrm>
          <a:prstGeom prst="roundRect">
            <a:avLst>
              <a:gd name="adj" fmla="val 2676"/>
            </a:avLst>
          </a:prstGeom>
          <a:solidFill>
            <a:srgbClr val="1C1E21"/>
          </a:solidFill>
          <a:ln w="12700">
            <a:solidFill>
              <a:srgbClr val="1C1E21"/>
            </a:solidFill>
            <a:prstDash val="solid"/>
          </a:ln>
          <a:effectLst>
            <a:outerShdw sx="100000" sy="100000" kx="0" ky="0" algn="bl" rotWithShape="0" blurRad="127000" dist="25400" dir="5400000">
              <a:srgbClr val="9A9A94">
                <a:alpha val="25000"/>
              </a:srgbClr>
            </a:outerShdw>
          </a:effectLst>
        </p:spPr>
      </p:sp>
      <p:sp>
        <p:nvSpPr>
          <p:cNvPr id="15" name="Text 13"/>
          <p:cNvSpPr/>
          <p:nvPr/>
        </p:nvSpPr>
        <p:spPr>
          <a:xfrm>
            <a:off x="8479536" y="2011680"/>
            <a:ext cx="2721864" cy="292608"/>
          </a:xfrm>
          <a:prstGeom prst="rect">
            <a:avLst/>
          </a:prstGeom>
          <a:noFill/>
          <a:ln/>
        </p:spPr>
        <p:txBody>
          <a:bodyPr wrap="square" lIns="0" tIns="0" rIns="0" bIns="0" rtlCol="0" anchor="ctr"/>
          <a:lstStyle/>
          <a:p>
            <a:pPr indent="0" marL="0">
              <a:buNone/>
            </a:pPr>
            <a:r>
              <a:rPr lang="en-US" sz="1400" b="1" spc="100" kern="0" dirty="0">
                <a:solidFill>
                  <a:srgbClr val="F5C518"/>
                </a:solidFill>
                <a:latin typeface="Arial" pitchFamily="34" charset="0"/>
                <a:ea typeface="Arial" pitchFamily="34" charset="-122"/>
                <a:cs typeface="Arial" pitchFamily="34" charset="-120"/>
              </a:rPr>
              <a:t>THE JUDGEMENT CRASH</a:t>
            </a:r>
            <a:endParaRPr lang="en-US" sz="1400" dirty="0"/>
          </a:p>
        </p:txBody>
      </p:sp>
      <p:sp>
        <p:nvSpPr>
          <p:cNvPr id="16" name="Text 14"/>
          <p:cNvSpPr/>
          <p:nvPr/>
        </p:nvSpPr>
        <p:spPr>
          <a:xfrm>
            <a:off x="8479536" y="2359152"/>
            <a:ext cx="2721864" cy="256032"/>
          </a:xfrm>
          <a:prstGeom prst="rect">
            <a:avLst/>
          </a:prstGeom>
          <a:noFill/>
          <a:ln/>
        </p:spPr>
        <p:txBody>
          <a:bodyPr wrap="square" lIns="0" tIns="0" rIns="0" bIns="0" rtlCol="0" anchor="ctr"/>
          <a:lstStyle/>
          <a:p>
            <a:pPr indent="0" marL="0">
              <a:buNone/>
            </a:pPr>
            <a:r>
              <a:rPr lang="en-US" sz="1050" b="1" spc="200" kern="0" dirty="0">
                <a:solidFill>
                  <a:srgbClr val="9AA0A6"/>
                </a:solidFill>
                <a:latin typeface="Arial" pitchFamily="34" charset="0"/>
                <a:ea typeface="Arial" pitchFamily="34" charset="-122"/>
                <a:cs typeface="Arial" pitchFamily="34" charset="-120"/>
              </a:rPr>
              <a:t>QUIET</a:t>
            </a:r>
            <a:endParaRPr lang="en-US" sz="1050" dirty="0"/>
          </a:p>
        </p:txBody>
      </p:sp>
      <p:sp>
        <p:nvSpPr>
          <p:cNvPr id="17" name="Text 15"/>
          <p:cNvSpPr/>
          <p:nvPr/>
        </p:nvSpPr>
        <p:spPr>
          <a:xfrm>
            <a:off x="8479536" y="2788920"/>
            <a:ext cx="2721864" cy="1920240"/>
          </a:xfrm>
          <a:prstGeom prst="rect">
            <a:avLst/>
          </a:prstGeom>
          <a:noFill/>
          <a:ln/>
        </p:spPr>
        <p:txBody>
          <a:bodyPr wrap="square" lIns="0" tIns="0" rIns="0" bIns="0" rtlCol="0" anchor="t"/>
          <a:lstStyle/>
          <a:p>
            <a:pPr indent="0" marL="0">
              <a:lnSpc>
                <a:spcPct val="128000"/>
              </a:lnSpc>
              <a:buNone/>
            </a:pPr>
            <a:r>
              <a:rPr lang="en-US" sz="1350" dirty="0">
                <a:solidFill>
                  <a:srgbClr val="E8E8E4"/>
                </a:solidFill>
                <a:latin typeface="Calibri" pitchFamily="34" charset="0"/>
                <a:ea typeface="Calibri" pitchFamily="34" charset="-122"/>
                <a:cs typeface="Calibri" pitchFamily="34" charset="-120"/>
              </a:rPr>
              <a:t>It writes an adjustment that reads professionally. It's 4:40pm. You're tired. You keep it. A decision about a child has now been made by autocomplete, in your name.</a:t>
            </a:r>
            <a:endParaRPr lang="en-US" sz="1350" dirty="0"/>
          </a:p>
        </p:txBody>
      </p:sp>
      <p:sp>
        <p:nvSpPr>
          <p:cNvPr id="18" name="Text 16"/>
          <p:cNvSpPr/>
          <p:nvPr/>
        </p:nvSpPr>
        <p:spPr>
          <a:xfrm>
            <a:off x="8479536" y="5029200"/>
            <a:ext cx="2721864" cy="548640"/>
          </a:xfrm>
          <a:prstGeom prst="rect">
            <a:avLst/>
          </a:prstGeom>
          <a:noFill/>
          <a:ln/>
        </p:spPr>
        <p:txBody>
          <a:bodyPr wrap="square" lIns="0" tIns="0" rIns="0" bIns="0" rtlCol="0" anchor="t"/>
          <a:lstStyle/>
          <a:p>
            <a:pPr indent="0" marL="0">
              <a:lnSpc>
                <a:spcPct val="120000"/>
              </a:lnSpc>
              <a:buNone/>
            </a:pPr>
            <a:r>
              <a:rPr lang="en-US" sz="1300" b="1" i="1" dirty="0">
                <a:solidFill>
                  <a:srgbClr val="F5C518"/>
                </a:solidFill>
                <a:latin typeface="Calibri" pitchFamily="34" charset="0"/>
                <a:ea typeface="Calibri" pitchFamily="34" charset="-122"/>
                <a:cs typeface="Calibri" pitchFamily="34" charset="-120"/>
              </a:rPr>
              <a:t>The one that actually costs a student.</a:t>
            </a:r>
            <a:endParaRPr lang="en-US" sz="1300" dirty="0"/>
          </a:p>
        </p:txBody>
      </p:sp>
      <p:sp>
        <p:nvSpPr>
          <p:cNvPr id="19" name="Text 17"/>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All three have the same fix, and it isn't "use AI less". It's brakes.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BEFORE YOU TYPE ANYTHING</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Which Copilot are you actually in?</a:t>
            </a:r>
            <a:endParaRPr lang="en-US" sz="3300" dirty="0"/>
          </a:p>
        </p:txBody>
      </p:sp>
      <p:sp>
        <p:nvSpPr>
          <p:cNvPr id="4" name="Shape 2"/>
          <p:cNvSpPr/>
          <p:nvPr/>
        </p:nvSpPr>
        <p:spPr>
          <a:xfrm>
            <a:off x="640080" y="1691640"/>
            <a:ext cx="5289804" cy="2514600"/>
          </a:xfrm>
          <a:prstGeom prst="roundRect">
            <a:avLst>
              <a:gd name="adj" fmla="val 3636"/>
            </a:avLst>
          </a:prstGeom>
          <a:solidFill>
            <a:srgbClr val="EAF3EE"/>
          </a:solidFill>
          <a:ln/>
        </p:spPr>
        <p:txBody>
          <a:bodyPr/>
          <a:p/>
        </p:txBody>
      </p:sp>
      <p:sp>
        <p:nvSpPr>
          <p:cNvPr id="5" name="Text 3"/>
          <p:cNvSpPr/>
          <p:nvPr/>
        </p:nvSpPr>
        <p:spPr>
          <a:xfrm>
            <a:off x="1005840" y="1901952"/>
            <a:ext cx="4558284" cy="274320"/>
          </a:xfrm>
          <a:prstGeom prst="rect">
            <a:avLst/>
          </a:prstGeom>
          <a:noFill/>
          <a:ln/>
        </p:spPr>
        <p:txBody>
          <a:bodyPr wrap="square" lIns="0" tIns="0" rIns="0" bIns="0" rtlCol="0" anchor="ctr"/>
          <a:lstStyle/>
          <a:p>
            <a:pPr indent="0" marL="0">
              <a:buNone/>
            </a:pPr>
            <a:r>
              <a:rPr lang="en-US" sz="1300" b="1" spc="100" kern="0" dirty="0">
                <a:solidFill>
                  <a:srgbClr val="2F7D5B"/>
                </a:solidFill>
                <a:latin typeface="Arial" pitchFamily="34" charset="0"/>
                <a:ea typeface="Arial" pitchFamily="34" charset="-122"/>
                <a:cs typeface="Arial" pitchFamily="34" charset="-120"/>
              </a:rPr>
              <a:t>SIGNED IN WITH YOUR SCHOOL ACCOUNT</a:t>
            </a:r>
            <a:endParaRPr lang="en-US" sz="1300" dirty="0"/>
          </a:p>
        </p:txBody>
      </p:sp>
      <p:sp>
        <p:nvSpPr>
          <p:cNvPr id="6" name="Text 4"/>
          <p:cNvSpPr/>
          <p:nvPr/>
        </p:nvSpPr>
        <p:spPr>
          <a:xfrm>
            <a:off x="1005840" y="2286000"/>
            <a:ext cx="4558284" cy="1737360"/>
          </a:xfrm>
          <a:prstGeom prst="rect">
            <a:avLst/>
          </a:prstGeom>
          <a:noFill/>
          <a:ln/>
        </p:spPr>
        <p:txBody>
          <a:bodyPr wrap="square" lIns="0" tIns="0" rIns="0" bIns="0" rtlCol="0" anchor="t"/>
          <a:lstStyle/>
          <a:p>
            <a:pPr indent="0" marL="0">
              <a:lnSpc>
                <a:spcPct val="128000"/>
              </a:lnSpc>
              <a:buNone/>
            </a:pPr>
            <a:r>
              <a:rPr lang="en-US" sz="1350" dirty="0">
                <a:solidFill>
                  <a:srgbClr val="3A3D41"/>
                </a:solidFill>
                <a:latin typeface="Calibri" pitchFamily="34" charset="0"/>
                <a:ea typeface="Calibri" pitchFamily="34" charset="-122"/>
                <a:cs typeface="Calibri" pitchFamily="34" charset="-120"/>
              </a:rPr>
              <a:t>Work accounts get enterprise data protection: your prompts stay inside your organisation's tenant and aren't used to train the model. Look for the protection indicator next to the prompt box. Necessary, but not sufficient — see below.</a:t>
            </a:r>
            <a:endParaRPr lang="en-US" sz="1350" dirty="0"/>
          </a:p>
        </p:txBody>
      </p:sp>
      <p:sp>
        <p:nvSpPr>
          <p:cNvPr id="7" name="Shape 5"/>
          <p:cNvSpPr/>
          <p:nvPr/>
        </p:nvSpPr>
        <p:spPr>
          <a:xfrm>
            <a:off x="6259068" y="1691640"/>
            <a:ext cx="5289804" cy="2514600"/>
          </a:xfrm>
          <a:prstGeom prst="roundRect">
            <a:avLst>
              <a:gd name="adj" fmla="val 3636"/>
            </a:avLst>
          </a:prstGeom>
          <a:solidFill>
            <a:srgbClr val="FBEDEA"/>
          </a:solidFill>
          <a:ln/>
        </p:spPr>
        <p:txBody>
          <a:bodyPr/>
          <a:p/>
        </p:txBody>
      </p:sp>
      <p:sp>
        <p:nvSpPr>
          <p:cNvPr id="8" name="Text 6"/>
          <p:cNvSpPr/>
          <p:nvPr/>
        </p:nvSpPr>
        <p:spPr>
          <a:xfrm>
            <a:off x="6624828" y="1901952"/>
            <a:ext cx="4558284" cy="274320"/>
          </a:xfrm>
          <a:prstGeom prst="rect">
            <a:avLst/>
          </a:prstGeom>
          <a:noFill/>
          <a:ln/>
        </p:spPr>
        <p:txBody>
          <a:bodyPr wrap="square" lIns="0" tIns="0" rIns="0" bIns="0" rtlCol="0" anchor="ctr"/>
          <a:lstStyle/>
          <a:p>
            <a:pPr indent="0" marL="0">
              <a:buNone/>
            </a:pPr>
            <a:r>
              <a:rPr lang="en-US" sz="1300" b="1" spc="100" kern="0" dirty="0">
                <a:solidFill>
                  <a:srgbClr val="C8402F"/>
                </a:solidFill>
                <a:latin typeface="Arial" pitchFamily="34" charset="0"/>
                <a:ea typeface="Arial" pitchFamily="34" charset="-122"/>
                <a:cs typeface="Arial" pitchFamily="34" charset="-120"/>
              </a:rPr>
              <a:t>PERSONAL ACCOUNT, OR LOGGED OUT</a:t>
            </a:r>
            <a:endParaRPr lang="en-US" sz="1300" dirty="0"/>
          </a:p>
        </p:txBody>
      </p:sp>
      <p:sp>
        <p:nvSpPr>
          <p:cNvPr id="9" name="Text 7"/>
          <p:cNvSpPr/>
          <p:nvPr/>
        </p:nvSpPr>
        <p:spPr>
          <a:xfrm>
            <a:off x="6624828" y="2286000"/>
            <a:ext cx="4558284" cy="1737360"/>
          </a:xfrm>
          <a:prstGeom prst="rect">
            <a:avLst/>
          </a:prstGeom>
          <a:noFill/>
          <a:ln/>
        </p:spPr>
        <p:txBody>
          <a:bodyPr wrap="square" lIns="0" tIns="0" rIns="0" bIns="0" rtlCol="0" anchor="t"/>
          <a:lstStyle/>
          <a:p>
            <a:pPr indent="0" marL="0">
              <a:lnSpc>
                <a:spcPct val="128000"/>
              </a:lnSpc>
              <a:buNone/>
            </a:pPr>
            <a:r>
              <a:rPr lang="en-US" sz="1350" dirty="0">
                <a:solidFill>
                  <a:srgbClr val="3A3D41"/>
                </a:solidFill>
                <a:latin typeface="Calibri" pitchFamily="34" charset="0"/>
                <a:ea typeface="Calibri" pitchFamily="34" charset="-122"/>
                <a:cs typeface="Calibri" pitchFamily="34" charset="-120"/>
              </a:rPr>
              <a:t>Treat every word you type as public. Same standard as posting it to the school's Facebook page. This includes the free consumer app on your own phone during a free period — the account is what matters, not the device.</a:t>
            </a:r>
            <a:endParaRPr lang="en-US" sz="1350" dirty="0"/>
          </a:p>
        </p:txBody>
      </p:sp>
      <p:sp>
        <p:nvSpPr>
          <p:cNvPr id="10" name="Shape 8"/>
          <p:cNvSpPr/>
          <p:nvPr/>
        </p:nvSpPr>
        <p:spPr>
          <a:xfrm>
            <a:off x="640080" y="4434840"/>
            <a:ext cx="10908792" cy="1600200"/>
          </a:xfrm>
          <a:prstGeom prst="roundRect">
            <a:avLst>
              <a:gd name="adj" fmla="val 5714"/>
            </a:avLst>
          </a:prstGeom>
          <a:solidFill>
            <a:srgbClr val="1C1E21"/>
          </a:solidFill>
          <a:ln/>
        </p:spPr>
        <p:txBody>
          <a:bodyPr/>
          <a:p/>
        </p:txBody>
      </p:sp>
      <p:sp>
        <p:nvSpPr>
          <p:cNvPr id="11" name="Text 9"/>
          <p:cNvSpPr/>
          <p:nvPr/>
        </p:nvSpPr>
        <p:spPr>
          <a:xfrm>
            <a:off x="1051560" y="4663440"/>
            <a:ext cx="10085832" cy="274320"/>
          </a:xfrm>
          <a:prstGeom prst="rect">
            <a:avLst/>
          </a:prstGeom>
          <a:noFill/>
          <a:ln/>
        </p:spPr>
        <p:txBody>
          <a:bodyPr wrap="square" lIns="0" tIns="0" rIns="0" bIns="0" rtlCol="0" anchor="ctr"/>
          <a:lstStyle/>
          <a:p>
            <a:pPr indent="0" marL="0">
              <a:buNone/>
            </a:pPr>
            <a:r>
              <a:rPr lang="en-US" sz="1250" b="1" spc="200" kern="0" dirty="0">
                <a:solidFill>
                  <a:srgbClr val="F5C518"/>
                </a:solidFill>
                <a:latin typeface="Arial" pitchFamily="34" charset="0"/>
                <a:ea typeface="Arial" pitchFamily="34" charset="-122"/>
                <a:cs typeface="Arial" pitchFamily="34" charset="-120"/>
              </a:rPr>
              <a:t>PROTECTED IS NOT THE SAME AS PERMITTED</a:t>
            </a:r>
            <a:endParaRPr lang="en-US" sz="1250" dirty="0"/>
          </a:p>
        </p:txBody>
      </p:sp>
      <p:sp>
        <p:nvSpPr>
          <p:cNvPr id="12" name="Text 10"/>
          <p:cNvSpPr/>
          <p:nvPr/>
        </p:nvSpPr>
        <p:spPr>
          <a:xfrm>
            <a:off x="1051560" y="5029200"/>
            <a:ext cx="10085832" cy="914400"/>
          </a:xfrm>
          <a:prstGeom prst="rect">
            <a:avLst/>
          </a:prstGeom>
          <a:noFill/>
          <a:ln/>
        </p:spPr>
        <p:txBody>
          <a:bodyPr wrap="square" lIns="0" tIns="0" rIns="0" bIns="0" rtlCol="0" anchor="t"/>
          <a:lstStyle/>
          <a:p>
            <a:pPr indent="0" marL="0">
              <a:lnSpc>
                <a:spcPct val="125000"/>
              </a:lnSpc>
              <a:buNone/>
            </a:pPr>
            <a:r>
              <a:rPr lang="en-US" sz="1350" dirty="0">
                <a:solidFill>
                  <a:srgbClr val="E8E8E4"/>
                </a:solidFill>
                <a:latin typeface="Calibri" pitchFamily="34" charset="0"/>
                <a:ea typeface="Calibri" pitchFamily="34" charset="-122"/>
                <a:cs typeface="Calibri" pitchFamily="34" charset="-120"/>
              </a:rPr>
              <a:t>Enterprise protection governs where your data travels. It does not grant permission to put student information into it. As a non-government school we sit under the federal Privacy Act and the Australian Privacy Principles — and anything from a psychologist, OT, speech pathologist or paediatrician is health information, which carries a higher bar again. None of that changed when Copilot arrived.</a:t>
            </a:r>
            <a:endParaRPr lang="en-US" sz="1350" dirty="0"/>
          </a:p>
        </p:txBody>
      </p:sp>
      <p:sp>
        <p:nvSpPr>
          <p:cNvPr id="11" name="Text 9"/>
          <p:cNvSpPr/>
          <p:nvPr/>
        </p:nvSpPr>
        <p:spPr>
          <a:xfrm>
            <a:off x="640080" y="6172200"/>
            <a:ext cx="10908792" cy="292608"/>
          </a:xfrm>
          <a:prstGeom prst="rect">
            <a:avLst/>
          </a:prstGeom>
          <a:noFill/>
          <a:ln/>
        </p:spPr>
        <p:txBody>
          <a:bodyPr wrap="square" lIns="0" tIns="0" rIns="0" bIns="0" rtlCol="0" anchor="ctr"/>
          <a:lstStyle/>
          <a:p>
            <a:pPr indent="0" marL="0">
              <a:buNone/>
            </a:pPr>
            <a:r>
              <a:rPr lang="en-US" sz="900" b="1" spc="200" kern="0" dirty="0">
                <a:solidFill>
                  <a:srgbClr val="F5C518"/>
                </a:solidFill>
                <a:latin typeface="Arial" pitchFamily="34" charset="0"/>
                <a:ea typeface="Arial" pitchFamily="34" charset="-122"/>
                <a:cs typeface="Arial" pitchFamily="34" charset="-120"/>
              </a:rPr>
              <a:t>CHECK THIS AGAINST YOUR SCHOOL'S CURRENT AI-USE POLICY AND APPROVED-TOOL LIST — BOTH OF THEM CHANGE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E21"/>
        </a:solidFill>
      </p:bgPr>
    </p:bg>
    <p:spTree>
      <p:nvGrpSpPr>
        <p:cNvPr id="1" name=""/>
        <p:cNvGrpSpPr/>
        <p:nvPr/>
      </p:nvGrpSpPr>
      <p:grpSpPr>
        <a:xfrm>
          <a:off x="0" y="0"/>
          <a:ext cx="0" cy="0"/>
          <a:chOff x="0" y="0"/>
          <a:chExt cx="0" cy="0"/>
        </a:xfrm>
      </p:grpSpPr>
      <p:sp>
        <p:nvSpPr>
          <p:cNvPr id="2" name="Shape 0"/>
          <p:cNvSpPr/>
          <p:nvPr/>
        </p:nvSpPr>
        <p:spPr>
          <a:xfrm>
            <a:off x="822960" y="1371600"/>
            <a:ext cx="658368" cy="658368"/>
          </a:xfrm>
          <a:prstGeom prst="ellipse">
            <a:avLst/>
          </a:prstGeom>
          <a:solidFill>
            <a:srgbClr val="F5C518"/>
          </a:solidFill>
          <a:ln/>
        </p:spPr>
        <p:txBody>
          <a:bodyPr/>
          <a:p/>
        </p:txBody>
      </p:sp>
      <p:sp>
        <p:nvSpPr>
          <p:cNvPr id="3" name="Text 1"/>
          <p:cNvSpPr/>
          <p:nvPr/>
        </p:nvSpPr>
        <p:spPr>
          <a:xfrm>
            <a:off x="822960" y="1371600"/>
            <a:ext cx="658368" cy="658368"/>
          </a:xfrm>
          <a:prstGeom prst="rect">
            <a:avLst/>
          </a:prstGeom>
          <a:noFill/>
          <a:ln/>
        </p:spPr>
        <p:txBody>
          <a:bodyPr wrap="square" lIns="0" tIns="0" rIns="0" bIns="0" rtlCol="0" anchor="ctr"/>
          <a:lstStyle/>
          <a:p>
            <a:pPr algn="ctr" indent="0" marL="0">
              <a:buNone/>
            </a:pPr>
            <a:r>
              <a:rPr lang="en-US" sz="2200" b="1" dirty="0">
                <a:solidFill>
                  <a:srgbClr val="1C1E21"/>
                </a:solidFill>
                <a:latin typeface="Arial" pitchFamily="34" charset="0"/>
                <a:ea typeface="Arial" pitchFamily="34" charset="-122"/>
                <a:cs typeface="Arial" pitchFamily="34" charset="-120"/>
              </a:rPr>
              <a:t>04</a:t>
            </a:r>
            <a:endParaRPr lang="en-US" sz="2200" dirty="0"/>
          </a:p>
        </p:txBody>
      </p:sp>
      <p:sp>
        <p:nvSpPr>
          <p:cNvPr id="4" name="Text 2"/>
          <p:cNvSpPr/>
          <p:nvPr/>
        </p:nvSpPr>
        <p:spPr>
          <a:xfrm>
            <a:off x="1691640" y="1490472"/>
            <a:ext cx="9006840" cy="411480"/>
          </a:xfrm>
          <a:prstGeom prst="rect">
            <a:avLst/>
          </a:prstGeom>
          <a:noFill/>
          <a:ln/>
        </p:spPr>
        <p:txBody>
          <a:bodyPr wrap="square" lIns="0" tIns="0" rIns="0" bIns="0" rtlCol="0" anchor="ctr"/>
          <a:lstStyle/>
          <a:p>
            <a:pPr indent="0" marL="0">
              <a:buNone/>
            </a:pPr>
            <a:r>
              <a:rPr lang="en-US" sz="1400" b="1" spc="300" kern="0" dirty="0">
                <a:solidFill>
                  <a:srgbClr val="F5C518"/>
                </a:solidFill>
                <a:latin typeface="Arial" pitchFamily="34" charset="0"/>
                <a:ea typeface="Arial" pitchFamily="34" charset="-122"/>
                <a:cs typeface="Arial" pitchFamily="34" charset="-120"/>
              </a:rPr>
              <a:t>THE BRAKES</a:t>
            </a:r>
            <a:endParaRPr lang="en-US" sz="1400" dirty="0"/>
          </a:p>
        </p:txBody>
      </p:sp>
      <p:sp>
        <p:nvSpPr>
          <p:cNvPr id="5" name="Text 3"/>
          <p:cNvSpPr/>
          <p:nvPr/>
        </p:nvSpPr>
        <p:spPr>
          <a:xfrm>
            <a:off x="822960" y="2377440"/>
            <a:ext cx="10058400" cy="2011680"/>
          </a:xfrm>
          <a:prstGeom prst="rect">
            <a:avLst/>
          </a:prstGeom>
          <a:noFill/>
          <a:ln/>
        </p:spPr>
        <p:txBody>
          <a:bodyPr wrap="square" lIns="0" tIns="0" rIns="0" bIns="0" rtlCol="0" anchor="t"/>
          <a:lstStyle/>
          <a:p>
            <a:pPr indent="0" marL="0">
              <a:lnSpc>
                <a:spcPct val="112000"/>
              </a:lnSpc>
              <a:buNone/>
            </a:pPr>
            <a:r>
              <a:rPr lang="en-US" sz="3600" b="1" dirty="0">
                <a:solidFill>
                  <a:srgbClr val="FFFFFF"/>
                </a:solidFill>
                <a:latin typeface="Arial" pitchFamily="34" charset="0"/>
                <a:ea typeface="Arial" pitchFamily="34" charset="-122"/>
                <a:cs typeface="Arial" pitchFamily="34" charset="-120"/>
              </a:rPr>
              <a:t>Brakes aren't what slow you down. They're what let you drive fast.</a:t>
            </a:r>
            <a:endParaRPr lang="en-US" sz="3600" dirty="0"/>
          </a:p>
        </p:txBody>
      </p:sp>
      <p:sp>
        <p:nvSpPr>
          <p:cNvPr id="6" name="Text 4"/>
          <p:cNvSpPr/>
          <p:nvPr/>
        </p:nvSpPr>
        <p:spPr>
          <a:xfrm>
            <a:off x="822960" y="4572000"/>
            <a:ext cx="10058400" cy="1371600"/>
          </a:xfrm>
          <a:prstGeom prst="rect">
            <a:avLst/>
          </a:prstGeom>
          <a:noFill/>
          <a:ln/>
        </p:spPr>
        <p:txBody>
          <a:bodyPr wrap="square" lIns="0" tIns="0" rIns="0" bIns="0" rtlCol="0" anchor="t"/>
          <a:lstStyle/>
          <a:p>
            <a:pPr indent="0" marL="0">
              <a:lnSpc>
                <a:spcPct val="130000"/>
              </a:lnSpc>
              <a:buNone/>
            </a:pPr>
            <a:r>
              <a:rPr lang="en-US" sz="1500" dirty="0">
                <a:solidFill>
                  <a:srgbClr val="9AA0A6"/>
                </a:solidFill>
                <a:latin typeface="Calibri" pitchFamily="34" charset="0"/>
                <a:ea typeface="Calibri" pitchFamily="34" charset="-122"/>
                <a:cs typeface="Calibri" pitchFamily="34" charset="-120"/>
              </a:rPr>
              <a:t>Three of them. About thirty seconds each. Learn them once and you can use this thing at speed without thinking about it.</a:t>
            </a:r>
            <a:endParaRPr lang="en-US" sz="1500" dirty="0"/>
          </a:p>
        </p:txBody>
      </p:sp>
      <p:sp>
        <p:nvSpPr>
          <p:cNvPr id="7" name="Text 5"/>
          <p:cNvSpPr/>
          <p:nvPr/>
        </p:nvSpPr>
        <p:spPr>
          <a:xfrm>
            <a:off x="822960" y="5669280"/>
            <a:ext cx="10058400" cy="365760"/>
          </a:xfrm>
          <a:prstGeom prst="rect">
            <a:avLst/>
          </a:prstGeom>
          <a:noFill/>
          <a:ln/>
        </p:spPr>
        <p:txBody>
          <a:bodyPr wrap="square" lIns="0" tIns="0" rIns="0" bIns="0" rtlCol="0" anchor="ctr"/>
          <a:lstStyle/>
          <a:p>
            <a:pPr indent="0" marL="0">
              <a:buNone/>
            </a:pPr>
            <a:r>
              <a:rPr lang="en-US" sz="1500" b="1" spc="100" kern="0" dirty="0">
                <a:solidFill>
                  <a:srgbClr val="F5C518"/>
                </a:solidFill>
                <a:latin typeface="Arial" pitchFamily="34" charset="0"/>
                <a:ea typeface="Arial" pitchFamily="34" charset="-122"/>
                <a:cs typeface="Arial" pitchFamily="34" charset="-120"/>
              </a:rPr>
              <a:t>De-identify   ·   Check the C.O.R.E.   ·   The three-point check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BRAKE ONE</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De-identify before you type, not after.</a:t>
            </a:r>
            <a:endParaRPr lang="en-US" sz="3300" dirty="0"/>
          </a:p>
        </p:txBody>
      </p:sp>
      <p:sp>
        <p:nvSpPr>
          <p:cNvPr id="4" name="Text 2"/>
          <p:cNvSpPr/>
          <p:nvPr/>
        </p:nvSpPr>
        <p:spPr>
          <a:xfrm>
            <a:off x="960120" y="1691640"/>
            <a:ext cx="4649724" cy="256032"/>
          </a:xfrm>
          <a:prstGeom prst="rect">
            <a:avLst/>
          </a:prstGeom>
          <a:noFill/>
          <a:ln/>
        </p:spPr>
        <p:txBody>
          <a:bodyPr wrap="square" lIns="0" tIns="0" rIns="0" bIns="0" rtlCol="0" anchor="ctr"/>
          <a:lstStyle/>
          <a:p>
            <a:pPr indent="0" marL="0">
              <a:buNone/>
            </a:pPr>
            <a:r>
              <a:rPr lang="en-US" sz="1150" b="1" spc="200" kern="0" dirty="0">
                <a:solidFill>
                  <a:srgbClr val="C8402F"/>
                </a:solidFill>
                <a:latin typeface="Arial" pitchFamily="34" charset="0"/>
                <a:ea typeface="Arial" pitchFamily="34" charset="-122"/>
                <a:cs typeface="Arial" pitchFamily="34" charset="-120"/>
              </a:rPr>
              <a:t>INSTEAD OF</a:t>
            </a:r>
            <a:endParaRPr lang="en-US" sz="1150" dirty="0"/>
          </a:p>
        </p:txBody>
      </p:sp>
      <p:sp>
        <p:nvSpPr>
          <p:cNvPr id="5" name="Text 3"/>
          <p:cNvSpPr/>
          <p:nvPr/>
        </p:nvSpPr>
        <p:spPr>
          <a:xfrm>
            <a:off x="6579108" y="1691640"/>
            <a:ext cx="4649724" cy="256032"/>
          </a:xfrm>
          <a:prstGeom prst="rect">
            <a:avLst/>
          </a:prstGeom>
          <a:noFill/>
          <a:ln/>
        </p:spPr>
        <p:txBody>
          <a:bodyPr wrap="square" lIns="0" tIns="0" rIns="0" bIns="0" rtlCol="0" anchor="ctr"/>
          <a:lstStyle/>
          <a:p>
            <a:pPr indent="0" marL="0">
              <a:buNone/>
            </a:pPr>
            <a:r>
              <a:rPr lang="en-US" sz="1150" b="1" spc="200" kern="0" dirty="0">
                <a:solidFill>
                  <a:srgbClr val="2F7D5B"/>
                </a:solidFill>
                <a:latin typeface="Arial" pitchFamily="34" charset="0"/>
                <a:ea typeface="Arial" pitchFamily="34" charset="-122"/>
                <a:cs typeface="Arial" pitchFamily="34" charset="-120"/>
              </a:rPr>
              <a:t>TYPE THIS</a:t>
            </a:r>
            <a:endParaRPr lang="en-US" sz="1150" dirty="0"/>
          </a:p>
        </p:txBody>
      </p:sp>
      <p:sp>
        <p:nvSpPr>
          <p:cNvPr id="6" name="Shape 4"/>
          <p:cNvSpPr/>
          <p:nvPr/>
        </p:nvSpPr>
        <p:spPr>
          <a:xfrm>
            <a:off x="640080" y="2057400"/>
            <a:ext cx="5289804" cy="603504"/>
          </a:xfrm>
          <a:prstGeom prst="roundRect">
            <a:avLst>
              <a:gd name="adj" fmla="val 9091"/>
            </a:avLst>
          </a:prstGeom>
          <a:solidFill>
            <a:srgbClr val="FBEDEA"/>
          </a:solidFill>
          <a:ln/>
        </p:spPr>
      </p:sp>
      <p:sp>
        <p:nvSpPr>
          <p:cNvPr id="7" name="Text 5"/>
          <p:cNvSpPr/>
          <p:nvPr/>
        </p:nvSpPr>
        <p:spPr>
          <a:xfrm>
            <a:off x="960120" y="2057400"/>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“Jayden really struggles with…”</a:t>
            </a:r>
            <a:endParaRPr lang="en-US" sz="1300" dirty="0"/>
          </a:p>
        </p:txBody>
      </p:sp>
      <p:sp>
        <p:nvSpPr>
          <p:cNvPr id="8" name="Shape 6"/>
          <p:cNvSpPr/>
          <p:nvPr/>
        </p:nvSpPr>
        <p:spPr>
          <a:xfrm>
            <a:off x="6259068" y="2057400"/>
            <a:ext cx="5289804" cy="603504"/>
          </a:xfrm>
          <a:prstGeom prst="roundRect">
            <a:avLst>
              <a:gd name="adj" fmla="val 9091"/>
            </a:avLst>
          </a:prstGeom>
          <a:solidFill>
            <a:srgbClr val="EAF3EE"/>
          </a:solidFill>
          <a:ln/>
        </p:spPr>
      </p:sp>
      <p:sp>
        <p:nvSpPr>
          <p:cNvPr id="9" name="Text 7"/>
          <p:cNvSpPr/>
          <p:nvPr/>
        </p:nvSpPr>
        <p:spPr>
          <a:xfrm>
            <a:off x="6579108" y="2057400"/>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“A Year 5 student who struggles with…”</a:t>
            </a:r>
            <a:endParaRPr lang="en-US" sz="1300" dirty="0"/>
          </a:p>
        </p:txBody>
      </p:sp>
      <p:sp>
        <p:nvSpPr>
          <p:cNvPr id="10" name="Shape 8"/>
          <p:cNvSpPr/>
          <p:nvPr/>
        </p:nvSpPr>
        <p:spPr>
          <a:xfrm>
            <a:off x="640080" y="2752344"/>
            <a:ext cx="5289804" cy="603504"/>
          </a:xfrm>
          <a:prstGeom prst="roundRect">
            <a:avLst>
              <a:gd name="adj" fmla="val 9091"/>
            </a:avLst>
          </a:prstGeom>
          <a:solidFill>
            <a:srgbClr val="FBEDEA"/>
          </a:solidFill>
          <a:ln/>
        </p:spPr>
      </p:sp>
      <p:sp>
        <p:nvSpPr>
          <p:cNvPr id="11" name="Text 9"/>
          <p:cNvSpPr/>
          <p:nvPr/>
        </p:nvSpPr>
        <p:spPr>
          <a:xfrm>
            <a:off x="960120" y="2752344"/>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“His psych report says working memory 4th percentile”</a:t>
            </a:r>
            <a:endParaRPr lang="en-US" sz="1300" dirty="0"/>
          </a:p>
        </p:txBody>
      </p:sp>
      <p:sp>
        <p:nvSpPr>
          <p:cNvPr id="12" name="Shape 10"/>
          <p:cNvSpPr/>
          <p:nvPr/>
        </p:nvSpPr>
        <p:spPr>
          <a:xfrm>
            <a:off x="6259068" y="2752344"/>
            <a:ext cx="5289804" cy="603504"/>
          </a:xfrm>
          <a:prstGeom prst="roundRect">
            <a:avLst>
              <a:gd name="adj" fmla="val 9091"/>
            </a:avLst>
          </a:prstGeom>
          <a:solidFill>
            <a:srgbClr val="EAF3EE"/>
          </a:solidFill>
          <a:ln/>
        </p:spPr>
      </p:sp>
      <p:sp>
        <p:nvSpPr>
          <p:cNvPr id="13" name="Text 11"/>
          <p:cNvSpPr/>
          <p:nvPr/>
        </p:nvSpPr>
        <p:spPr>
          <a:xfrm>
            <a:off x="6579108" y="2752344"/>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“Assessed with significant working memory difficulty”</a:t>
            </a:r>
            <a:endParaRPr lang="en-US" sz="1300" dirty="0"/>
          </a:p>
        </p:txBody>
      </p:sp>
      <p:sp>
        <p:nvSpPr>
          <p:cNvPr id="14" name="Shape 12"/>
          <p:cNvSpPr/>
          <p:nvPr/>
        </p:nvSpPr>
        <p:spPr>
          <a:xfrm>
            <a:off x="640080" y="3447288"/>
            <a:ext cx="5289804" cy="603504"/>
          </a:xfrm>
          <a:prstGeom prst="roundRect">
            <a:avLst>
              <a:gd name="adj" fmla="val 9091"/>
            </a:avLst>
          </a:prstGeom>
          <a:solidFill>
            <a:srgbClr val="FBEDEA"/>
          </a:solidFill>
          <a:ln/>
        </p:spPr>
      </p:sp>
      <p:sp>
        <p:nvSpPr>
          <p:cNvPr id="15" name="Text 13"/>
          <p:cNvSpPr/>
          <p:nvPr/>
        </p:nvSpPr>
        <p:spPr>
          <a:xfrm>
            <a:off x="960120" y="3447288"/>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Pasting the ILP straight in</a:t>
            </a:r>
            <a:endParaRPr lang="en-US" sz="1300" dirty="0"/>
          </a:p>
        </p:txBody>
      </p:sp>
      <p:sp>
        <p:nvSpPr>
          <p:cNvPr id="16" name="Shape 14"/>
          <p:cNvSpPr/>
          <p:nvPr/>
        </p:nvSpPr>
        <p:spPr>
          <a:xfrm>
            <a:off x="6259068" y="3447288"/>
            <a:ext cx="5289804" cy="603504"/>
          </a:xfrm>
          <a:prstGeom prst="roundRect">
            <a:avLst>
              <a:gd name="adj" fmla="val 9091"/>
            </a:avLst>
          </a:prstGeom>
          <a:solidFill>
            <a:srgbClr val="EAF3EE"/>
          </a:solidFill>
          <a:ln/>
        </p:spPr>
      </p:sp>
      <p:sp>
        <p:nvSpPr>
          <p:cNvPr id="17" name="Text 15"/>
          <p:cNvSpPr/>
          <p:nvPr/>
        </p:nvSpPr>
        <p:spPr>
          <a:xfrm>
            <a:off x="6579108" y="3447288"/>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Typing the three goals in your own words, no name</a:t>
            </a:r>
            <a:endParaRPr lang="en-US" sz="1300" dirty="0"/>
          </a:p>
        </p:txBody>
      </p:sp>
      <p:sp>
        <p:nvSpPr>
          <p:cNvPr id="18" name="Shape 16"/>
          <p:cNvSpPr/>
          <p:nvPr/>
        </p:nvSpPr>
        <p:spPr>
          <a:xfrm>
            <a:off x="640080" y="4142232"/>
            <a:ext cx="5289804" cy="603504"/>
          </a:xfrm>
          <a:prstGeom prst="roundRect">
            <a:avLst>
              <a:gd name="adj" fmla="val 9091"/>
            </a:avLst>
          </a:prstGeom>
          <a:solidFill>
            <a:srgbClr val="FBEDEA"/>
          </a:solidFill>
          <a:ln/>
        </p:spPr>
      </p:sp>
      <p:sp>
        <p:nvSpPr>
          <p:cNvPr id="19" name="Text 17"/>
          <p:cNvSpPr/>
          <p:nvPr/>
        </p:nvSpPr>
        <p:spPr>
          <a:xfrm>
            <a:off x="960120" y="4142232"/>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“Room 12, in Ms Patel's class”</a:t>
            </a:r>
            <a:endParaRPr lang="en-US" sz="1300" dirty="0"/>
          </a:p>
        </p:txBody>
      </p:sp>
      <p:sp>
        <p:nvSpPr>
          <p:cNvPr id="20" name="Shape 18"/>
          <p:cNvSpPr/>
          <p:nvPr/>
        </p:nvSpPr>
        <p:spPr>
          <a:xfrm>
            <a:off x="6259068" y="4142232"/>
            <a:ext cx="5289804" cy="603504"/>
          </a:xfrm>
          <a:prstGeom prst="roundRect">
            <a:avLst>
              <a:gd name="adj" fmla="val 9091"/>
            </a:avLst>
          </a:prstGeom>
          <a:solidFill>
            <a:srgbClr val="EAF3EE"/>
          </a:solidFill>
          <a:ln/>
        </p:spPr>
      </p:sp>
      <p:sp>
        <p:nvSpPr>
          <p:cNvPr id="21" name="Text 19"/>
          <p:cNvSpPr/>
          <p:nvPr/>
        </p:nvSpPr>
        <p:spPr>
          <a:xfrm>
            <a:off x="6579108" y="4142232"/>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“A mainstream Year 5 class with one TA”</a:t>
            </a:r>
            <a:endParaRPr lang="en-US" sz="1300" dirty="0"/>
          </a:p>
        </p:txBody>
      </p:sp>
      <p:sp>
        <p:nvSpPr>
          <p:cNvPr id="22" name="Shape 20"/>
          <p:cNvSpPr/>
          <p:nvPr/>
        </p:nvSpPr>
        <p:spPr>
          <a:xfrm>
            <a:off x="640080" y="4837176"/>
            <a:ext cx="5289804" cy="603504"/>
          </a:xfrm>
          <a:prstGeom prst="roundRect">
            <a:avLst>
              <a:gd name="adj" fmla="val 9091"/>
            </a:avLst>
          </a:prstGeom>
          <a:solidFill>
            <a:srgbClr val="FBEDEA"/>
          </a:solidFill>
          <a:ln/>
        </p:spPr>
      </p:sp>
      <p:sp>
        <p:nvSpPr>
          <p:cNvPr id="23" name="Text 21"/>
          <p:cNvSpPr/>
          <p:nvPr/>
        </p:nvSpPr>
        <p:spPr>
          <a:xfrm>
            <a:off x="960120" y="4837176"/>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A photo of the worksheet with a name in the header</a:t>
            </a:r>
            <a:endParaRPr lang="en-US" sz="1300" dirty="0"/>
          </a:p>
        </p:txBody>
      </p:sp>
      <p:sp>
        <p:nvSpPr>
          <p:cNvPr id="24" name="Shape 22"/>
          <p:cNvSpPr/>
          <p:nvPr/>
        </p:nvSpPr>
        <p:spPr>
          <a:xfrm>
            <a:off x="6259068" y="4837176"/>
            <a:ext cx="5289804" cy="603504"/>
          </a:xfrm>
          <a:prstGeom prst="roundRect">
            <a:avLst>
              <a:gd name="adj" fmla="val 9091"/>
            </a:avLst>
          </a:prstGeom>
          <a:solidFill>
            <a:srgbClr val="EAF3EE"/>
          </a:solidFill>
          <a:ln/>
        </p:spPr>
      </p:sp>
      <p:sp>
        <p:nvSpPr>
          <p:cNvPr id="25" name="Text 23"/>
          <p:cNvSpPr/>
          <p:nvPr/>
        </p:nvSpPr>
        <p:spPr>
          <a:xfrm>
            <a:off x="6579108" y="4837176"/>
            <a:ext cx="4649724" cy="603504"/>
          </a:xfrm>
          <a:prstGeom prst="rect">
            <a:avLst/>
          </a:prstGeom>
          <a:noFill/>
          <a:ln/>
        </p:spPr>
        <p:txBody>
          <a:bodyPr wrap="square" lIns="0" tIns="0" rIns="0" bIns="0" rtlCol="0" anchor="ctr"/>
          <a:lstStyle/>
          <a:p>
            <a:pPr indent="0" marL="0">
              <a:buNone/>
            </a:pPr>
            <a:r>
              <a:rPr lang="en-US" sz="1300" dirty="0">
                <a:solidFill>
                  <a:srgbClr val="3A3D41"/>
                </a:solidFill>
                <a:latin typeface="Calibri" pitchFamily="34" charset="0"/>
                <a:ea typeface="Calibri" pitchFamily="34" charset="-122"/>
                <a:cs typeface="Calibri" pitchFamily="34" charset="-120"/>
              </a:rPr>
              <a:t>Retyping the task text on its own</a:t>
            </a:r>
            <a:endParaRPr lang="en-US" sz="1300" dirty="0"/>
          </a:p>
        </p:txBody>
      </p:sp>
      <p:sp>
        <p:nvSpPr>
          <p:cNvPr id="26" name="Shape 24"/>
          <p:cNvSpPr/>
          <p:nvPr/>
        </p:nvSpPr>
        <p:spPr>
          <a:xfrm>
            <a:off x="640080" y="5669280"/>
            <a:ext cx="10908792" cy="777240"/>
          </a:xfrm>
          <a:prstGeom prst="roundRect">
            <a:avLst>
              <a:gd name="adj" fmla="val 9412"/>
            </a:avLst>
          </a:prstGeom>
          <a:solidFill>
            <a:srgbClr val="F5F5F2"/>
          </a:solidFill>
          <a:ln w="12700">
            <a:solidFill>
              <a:srgbClr val="E4E4DE"/>
            </a:solidFill>
            <a:prstDash val="solid"/>
          </a:ln>
        </p:spPr>
      </p:sp>
      <p:sp>
        <p:nvSpPr>
          <p:cNvPr id="27" name="Text 25"/>
          <p:cNvSpPr/>
          <p:nvPr/>
        </p:nvSpPr>
        <p:spPr>
          <a:xfrm>
            <a:off x="1005840" y="5669280"/>
            <a:ext cx="10177272" cy="777240"/>
          </a:xfrm>
          <a:prstGeom prst="rect">
            <a:avLst/>
          </a:prstGeom>
          <a:noFill/>
          <a:ln/>
        </p:spPr>
        <p:txBody>
          <a:bodyPr wrap="square" lIns="0" tIns="0" rIns="0" bIns="0" rtlCol="0" anchor="ctr"/>
          <a:lstStyle/>
          <a:p>
            <a:pPr indent="0" marL="0">
              <a:buNone/>
            </a:pPr>
            <a:r>
              <a:rPr lang="en-US" sz="1300" b="1" dirty="0">
                <a:solidFill>
                  <a:srgbClr val="1C1E21"/>
                </a:solidFill>
                <a:latin typeface="Calibri" pitchFamily="34" charset="0"/>
                <a:ea typeface="Calibri" pitchFamily="34" charset="-122"/>
                <a:cs typeface="Calibri" pitchFamily="34" charset="-120"/>
              </a:rPr>
              <a:t>The train test: print the prompt, leave it on a train — is anyone identifiable? Year level, condition, class and suburb together are enough. De-identification is a combination test, not a name test.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BRAKE TWO</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Check the C.O.R.E. before you lift.</a:t>
            </a:r>
            <a:endParaRPr lang="en-US" sz="3300" dirty="0"/>
          </a:p>
        </p:txBody>
      </p:sp>
      <p:sp>
        <p:nvSpPr>
          <p:cNvPr id="4" name="Shape 2"/>
          <p:cNvSpPr/>
          <p:nvPr/>
        </p:nvSpPr>
        <p:spPr>
          <a:xfrm>
            <a:off x="640080" y="1691640"/>
            <a:ext cx="10908792" cy="914400"/>
          </a:xfrm>
          <a:prstGeom prst="roundRect">
            <a:avLst>
              <a:gd name="adj" fmla="val 8000"/>
            </a:avLst>
          </a:prstGeom>
          <a:solidFill>
            <a:srgbClr val="F5F5F2"/>
          </a:solidFill>
          <a:ln w="12700">
            <a:solidFill>
              <a:srgbClr val="E4E4DE"/>
            </a:solidFill>
            <a:prstDash val="solid"/>
          </a:ln>
        </p:spPr>
        <p:txBody>
          <a:bodyPr/>
          <a:p/>
        </p:txBody>
      </p:sp>
      <p:sp>
        <p:nvSpPr>
          <p:cNvPr id="5" name="Shape 3"/>
          <p:cNvSpPr/>
          <p:nvPr/>
        </p:nvSpPr>
        <p:spPr>
          <a:xfrm>
            <a:off x="896112" y="1911096"/>
            <a:ext cx="475488" cy="475488"/>
          </a:xfrm>
          <a:prstGeom prst="ellipse">
            <a:avLst/>
          </a:prstGeom>
          <a:solidFill>
            <a:srgbClr val="F5C518"/>
          </a:solidFill>
          <a:ln/>
        </p:spPr>
        <p:txBody>
          <a:bodyPr/>
          <a:p/>
        </p:txBody>
      </p:sp>
      <p:sp>
        <p:nvSpPr>
          <p:cNvPr id="6" name="Text 4"/>
          <p:cNvSpPr/>
          <p:nvPr/>
        </p:nvSpPr>
        <p:spPr>
          <a:xfrm>
            <a:off x="896112" y="1911096"/>
            <a:ext cx="475488" cy="47548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C</a:t>
            </a:r>
            <a:endParaRPr lang="en-US" sz="1800" dirty="0"/>
          </a:p>
        </p:txBody>
      </p:sp>
      <p:sp>
        <p:nvSpPr>
          <p:cNvPr id="7" name="Text 5"/>
          <p:cNvSpPr/>
          <p:nvPr/>
        </p:nvSpPr>
        <p:spPr>
          <a:xfrm>
            <a:off x="1554480" y="1837944"/>
            <a:ext cx="3291840" cy="292608"/>
          </a:xfrm>
          <a:prstGeom prst="rect">
            <a:avLst/>
          </a:prstGeom>
          <a:noFill/>
          <a:ln/>
        </p:spPr>
        <p:txBody>
          <a:bodyPr wrap="square" lIns="0" tIns="0" rIns="0" bIns="0" rtlCol="0" anchor="ctr"/>
          <a:lstStyle/>
          <a:p>
            <a:pPr indent="0" marL="0">
              <a:buNone/>
            </a:pPr>
            <a:r>
              <a:rPr lang="en-US" sz="1300" b="1" spc="100" kern="0" dirty="0">
                <a:solidFill>
                  <a:srgbClr val="1C1E21"/>
                </a:solidFill>
                <a:latin typeface="Arial" pitchFamily="34" charset="0"/>
                <a:ea typeface="Arial" pitchFamily="34" charset="-122"/>
                <a:cs typeface="Arial" pitchFamily="34" charset="-120"/>
              </a:rPr>
              <a:t>CONTEXT</a:t>
            </a:r>
            <a:endParaRPr lang="en-US" sz="1300" dirty="0"/>
          </a:p>
        </p:txBody>
      </p:sp>
      <p:sp>
        <p:nvSpPr>
          <p:cNvPr id="8" name="Text 6"/>
          <p:cNvSpPr/>
          <p:nvPr/>
        </p:nvSpPr>
        <p:spPr>
          <a:xfrm>
            <a:off x="1554480" y="2167128"/>
            <a:ext cx="3291840" cy="365760"/>
          </a:xfrm>
          <a:prstGeom prst="rect">
            <a:avLst/>
          </a:prstGeom>
          <a:noFill/>
          <a:ln/>
        </p:spPr>
        <p:txBody>
          <a:bodyPr wrap="square" lIns="0" tIns="0" rIns="0" bIns="0" rtlCol="0" anchor="t"/>
          <a:lstStyle/>
          <a:p>
            <a:pPr indent="0" marL="0">
              <a:buNone/>
            </a:pPr>
            <a:r>
              <a:rPr lang="en-US" sz="1250" dirty="0">
                <a:solidFill>
                  <a:srgbClr val="6B7075"/>
                </a:solidFill>
                <a:latin typeface="Calibri" pitchFamily="34" charset="0"/>
                <a:ea typeface="Calibri" pitchFamily="34" charset="-122"/>
                <a:cs typeface="Calibri" pitchFamily="34" charset="-120"/>
              </a:rPr>
              <a:t>Who you are, who the learner is, the setting. Never a name.</a:t>
            </a:r>
            <a:endParaRPr lang="en-US" sz="1250" dirty="0"/>
          </a:p>
        </p:txBody>
      </p:sp>
      <p:sp>
        <p:nvSpPr>
          <p:cNvPr id="9" name="Text 7"/>
          <p:cNvSpPr/>
          <p:nvPr/>
        </p:nvSpPr>
        <p:spPr>
          <a:xfrm>
            <a:off x="5669280" y="1691640"/>
            <a:ext cx="5623560" cy="914400"/>
          </a:xfrm>
          <a:prstGeom prst="rect">
            <a:avLst/>
          </a:prstGeom>
          <a:noFill/>
          <a:ln/>
        </p:spPr>
        <p:txBody>
          <a:bodyPr wrap="square" lIns="0" tIns="0" rIns="0" bIns="0" rtlCol="0" anchor="ctr"/>
          <a:lstStyle/>
          <a:p>
            <a:pPr indent="0" marL="0">
              <a:buNone/>
            </a:pPr>
            <a:r>
              <a:rPr lang="en-US" sz="1350" i="1" dirty="0">
                <a:solidFill>
                  <a:srgbClr val="3A3D41"/>
                </a:solidFill>
                <a:latin typeface="Calibri" pitchFamily="34" charset="0"/>
                <a:ea typeface="Calibri" pitchFamily="34" charset="-122"/>
                <a:cs typeface="Calibri" pitchFamily="34" charset="-120"/>
              </a:rPr>
              <a:t>“I'm a learning support teacher. Year 8 student, decoding at roughly Year 3 level, mainstream science, one TA.”</a:t>
            </a:r>
            <a:endParaRPr lang="en-US" sz="1350" dirty="0"/>
          </a:p>
        </p:txBody>
      </p:sp>
      <p:sp>
        <p:nvSpPr>
          <p:cNvPr id="10" name="Shape 8"/>
          <p:cNvSpPr/>
          <p:nvPr/>
        </p:nvSpPr>
        <p:spPr>
          <a:xfrm>
            <a:off x="640080" y="2743200"/>
            <a:ext cx="10908792" cy="914400"/>
          </a:xfrm>
          <a:prstGeom prst="roundRect">
            <a:avLst>
              <a:gd name="adj" fmla="val 8000"/>
            </a:avLst>
          </a:prstGeom>
          <a:solidFill>
            <a:srgbClr val="FFFFFF"/>
          </a:solidFill>
          <a:ln w="12700">
            <a:solidFill>
              <a:srgbClr val="E4E4DE"/>
            </a:solidFill>
            <a:prstDash val="solid"/>
          </a:ln>
        </p:spPr>
        <p:txBody>
          <a:bodyPr/>
          <a:p/>
        </p:txBody>
      </p:sp>
      <p:sp>
        <p:nvSpPr>
          <p:cNvPr id="11" name="Shape 9"/>
          <p:cNvSpPr/>
          <p:nvPr/>
        </p:nvSpPr>
        <p:spPr>
          <a:xfrm>
            <a:off x="896112" y="2962656"/>
            <a:ext cx="475488" cy="475488"/>
          </a:xfrm>
          <a:prstGeom prst="ellipse">
            <a:avLst/>
          </a:prstGeom>
          <a:solidFill>
            <a:srgbClr val="F5C518"/>
          </a:solidFill>
          <a:ln/>
        </p:spPr>
        <p:txBody>
          <a:bodyPr/>
          <a:p/>
        </p:txBody>
      </p:sp>
      <p:sp>
        <p:nvSpPr>
          <p:cNvPr id="12" name="Text 10"/>
          <p:cNvSpPr/>
          <p:nvPr/>
        </p:nvSpPr>
        <p:spPr>
          <a:xfrm>
            <a:off x="896112" y="2962656"/>
            <a:ext cx="475488" cy="47548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O</a:t>
            </a:r>
            <a:endParaRPr lang="en-US" sz="1800" dirty="0"/>
          </a:p>
        </p:txBody>
      </p:sp>
      <p:sp>
        <p:nvSpPr>
          <p:cNvPr id="13" name="Text 11"/>
          <p:cNvSpPr/>
          <p:nvPr/>
        </p:nvSpPr>
        <p:spPr>
          <a:xfrm>
            <a:off x="1554480" y="2889504"/>
            <a:ext cx="3291840" cy="292608"/>
          </a:xfrm>
          <a:prstGeom prst="rect">
            <a:avLst/>
          </a:prstGeom>
          <a:noFill/>
          <a:ln/>
        </p:spPr>
        <p:txBody>
          <a:bodyPr wrap="square" lIns="0" tIns="0" rIns="0" bIns="0" rtlCol="0" anchor="ctr"/>
          <a:lstStyle/>
          <a:p>
            <a:pPr indent="0" marL="0">
              <a:buNone/>
            </a:pPr>
            <a:r>
              <a:rPr lang="en-US" sz="1300" b="1" spc="100" kern="0" dirty="0">
                <a:solidFill>
                  <a:srgbClr val="1C1E21"/>
                </a:solidFill>
                <a:latin typeface="Arial" pitchFamily="34" charset="0"/>
                <a:ea typeface="Arial" pitchFamily="34" charset="-122"/>
                <a:cs typeface="Arial" pitchFamily="34" charset="-120"/>
              </a:rPr>
              <a:t>OBJECTIVE &amp; OUTPUT</a:t>
            </a:r>
            <a:endParaRPr lang="en-US" sz="1300" dirty="0"/>
          </a:p>
        </p:txBody>
      </p:sp>
      <p:sp>
        <p:nvSpPr>
          <p:cNvPr id="14" name="Text 12"/>
          <p:cNvSpPr/>
          <p:nvPr/>
        </p:nvSpPr>
        <p:spPr>
          <a:xfrm>
            <a:off x="1554480" y="3218688"/>
            <a:ext cx="3291840" cy="365760"/>
          </a:xfrm>
          <a:prstGeom prst="rect">
            <a:avLst/>
          </a:prstGeom>
          <a:noFill/>
          <a:ln/>
        </p:spPr>
        <p:txBody>
          <a:bodyPr wrap="square" lIns="0" tIns="0" rIns="0" bIns="0" rtlCol="0" anchor="t"/>
          <a:lstStyle/>
          <a:p>
            <a:pPr indent="0" marL="0">
              <a:buNone/>
            </a:pPr>
            <a:r>
              <a:rPr lang="en-US" sz="1250" dirty="0">
                <a:solidFill>
                  <a:srgbClr val="6B7075"/>
                </a:solidFill>
                <a:latin typeface="Calibri" pitchFamily="34" charset="0"/>
                <a:ea typeface="Calibri" pitchFamily="34" charset="-122"/>
                <a:cs typeface="Calibri" pitchFamily="34" charset="-120"/>
              </a:rPr>
              <a:t>What you want — and the exact shape it comes back in.</a:t>
            </a:r>
            <a:endParaRPr lang="en-US" sz="1250" dirty="0"/>
          </a:p>
        </p:txBody>
      </p:sp>
      <p:sp>
        <p:nvSpPr>
          <p:cNvPr id="15" name="Text 13"/>
          <p:cNvSpPr/>
          <p:nvPr/>
        </p:nvSpPr>
        <p:spPr>
          <a:xfrm>
            <a:off x="5669280" y="2743200"/>
            <a:ext cx="5623560" cy="914400"/>
          </a:xfrm>
          <a:prstGeom prst="rect">
            <a:avLst/>
          </a:prstGeom>
          <a:noFill/>
          <a:ln/>
        </p:spPr>
        <p:txBody>
          <a:bodyPr wrap="square" lIns="0" tIns="0" rIns="0" bIns="0" rtlCol="0" anchor="ctr"/>
          <a:lstStyle/>
          <a:p>
            <a:pPr indent="0" marL="0">
              <a:buNone/>
            </a:pPr>
            <a:r>
              <a:rPr lang="en-US" sz="1350" i="1" dirty="0">
                <a:solidFill>
                  <a:srgbClr val="3A3D41"/>
                </a:solidFill>
                <a:latin typeface="Calibri" pitchFamily="34" charset="0"/>
                <a:ea typeface="Calibri" pitchFamily="34" charset="-122"/>
                <a:cs typeface="Calibri" pitchFamily="34" charset="-120"/>
              </a:rPr>
              <a:t>“Rewrite the passage so they can access it independently. Give it to me as a two-column table.”</a:t>
            </a:r>
            <a:endParaRPr lang="en-US" sz="1350" dirty="0"/>
          </a:p>
        </p:txBody>
      </p:sp>
      <p:sp>
        <p:nvSpPr>
          <p:cNvPr id="16" name="Shape 14"/>
          <p:cNvSpPr/>
          <p:nvPr/>
        </p:nvSpPr>
        <p:spPr>
          <a:xfrm>
            <a:off x="640080" y="3794760"/>
            <a:ext cx="10908792" cy="914400"/>
          </a:xfrm>
          <a:prstGeom prst="roundRect">
            <a:avLst>
              <a:gd name="adj" fmla="val 8000"/>
            </a:avLst>
          </a:prstGeom>
          <a:solidFill>
            <a:srgbClr val="F5F5F2"/>
          </a:solidFill>
          <a:ln w="12700">
            <a:solidFill>
              <a:srgbClr val="E4E4DE"/>
            </a:solidFill>
            <a:prstDash val="solid"/>
          </a:ln>
        </p:spPr>
        <p:txBody>
          <a:bodyPr/>
          <a:p/>
        </p:txBody>
      </p:sp>
      <p:sp>
        <p:nvSpPr>
          <p:cNvPr id="17" name="Shape 15"/>
          <p:cNvSpPr/>
          <p:nvPr/>
        </p:nvSpPr>
        <p:spPr>
          <a:xfrm>
            <a:off x="896112" y="4014216"/>
            <a:ext cx="475488" cy="475488"/>
          </a:xfrm>
          <a:prstGeom prst="ellipse">
            <a:avLst/>
          </a:prstGeom>
          <a:solidFill>
            <a:srgbClr val="F5C518"/>
          </a:solidFill>
          <a:ln/>
        </p:spPr>
        <p:txBody>
          <a:bodyPr/>
          <a:p/>
        </p:txBody>
      </p:sp>
      <p:sp>
        <p:nvSpPr>
          <p:cNvPr id="18" name="Text 16"/>
          <p:cNvSpPr/>
          <p:nvPr/>
        </p:nvSpPr>
        <p:spPr>
          <a:xfrm>
            <a:off x="896112" y="4014216"/>
            <a:ext cx="475488" cy="47548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R</a:t>
            </a:r>
            <a:endParaRPr lang="en-US" sz="1800" dirty="0"/>
          </a:p>
        </p:txBody>
      </p:sp>
      <p:sp>
        <p:nvSpPr>
          <p:cNvPr id="19" name="Text 17"/>
          <p:cNvSpPr/>
          <p:nvPr/>
        </p:nvSpPr>
        <p:spPr>
          <a:xfrm>
            <a:off x="1554480" y="3941064"/>
            <a:ext cx="3291840" cy="292608"/>
          </a:xfrm>
          <a:prstGeom prst="rect">
            <a:avLst/>
          </a:prstGeom>
          <a:noFill/>
          <a:ln/>
        </p:spPr>
        <p:txBody>
          <a:bodyPr wrap="square" lIns="0" tIns="0" rIns="0" bIns="0" rtlCol="0" anchor="ctr"/>
          <a:lstStyle/>
          <a:p>
            <a:pPr indent="0" marL="0">
              <a:buNone/>
            </a:pPr>
            <a:r>
              <a:rPr lang="en-US" sz="1300" b="1" spc="100" kern="0" dirty="0">
                <a:solidFill>
                  <a:srgbClr val="1C1E21"/>
                </a:solidFill>
                <a:latin typeface="Arial" pitchFamily="34" charset="0"/>
                <a:ea typeface="Arial" pitchFamily="34" charset="-122"/>
                <a:cs typeface="Arial" pitchFamily="34" charset="-120"/>
              </a:rPr>
              <a:t>ROLE &amp; RULES</a:t>
            </a:r>
            <a:endParaRPr lang="en-US" sz="1300" dirty="0"/>
          </a:p>
        </p:txBody>
      </p:sp>
      <p:sp>
        <p:nvSpPr>
          <p:cNvPr id="20" name="Text 18"/>
          <p:cNvSpPr/>
          <p:nvPr/>
        </p:nvSpPr>
        <p:spPr>
          <a:xfrm>
            <a:off x="1554480" y="4270248"/>
            <a:ext cx="3291840" cy="365760"/>
          </a:xfrm>
          <a:prstGeom prst="rect">
            <a:avLst/>
          </a:prstGeom>
          <a:noFill/>
          <a:ln/>
        </p:spPr>
        <p:txBody>
          <a:bodyPr wrap="square" lIns="0" tIns="0" rIns="0" bIns="0" rtlCol="0" anchor="t"/>
          <a:lstStyle/>
          <a:p>
            <a:pPr indent="0" marL="0">
              <a:buNone/>
            </a:pPr>
            <a:r>
              <a:rPr lang="en-US" sz="1250" dirty="0">
                <a:solidFill>
                  <a:srgbClr val="6B7075"/>
                </a:solidFill>
                <a:latin typeface="Calibri" pitchFamily="34" charset="0"/>
                <a:ea typeface="Calibri" pitchFamily="34" charset="-122"/>
                <a:cs typeface="Calibri" pitchFamily="34" charset="-120"/>
              </a:rPr>
              <a:t>Who it's being, and the limits it has to hold.</a:t>
            </a:r>
            <a:endParaRPr lang="en-US" sz="1250" dirty="0"/>
          </a:p>
        </p:txBody>
      </p:sp>
      <p:sp>
        <p:nvSpPr>
          <p:cNvPr id="21" name="Text 19"/>
          <p:cNvSpPr/>
          <p:nvPr/>
        </p:nvSpPr>
        <p:spPr>
          <a:xfrm>
            <a:off x="5669280" y="3794760"/>
            <a:ext cx="5623560" cy="914400"/>
          </a:xfrm>
          <a:prstGeom prst="rect">
            <a:avLst/>
          </a:prstGeom>
          <a:noFill/>
          <a:ln/>
        </p:spPr>
        <p:txBody>
          <a:bodyPr wrap="square" lIns="0" tIns="0" rIns="0" bIns="0" rtlCol="0" anchor="ctr"/>
          <a:lstStyle/>
          <a:p>
            <a:pPr indent="0" marL="0">
              <a:buNone/>
            </a:pPr>
            <a:r>
              <a:rPr lang="en-US" sz="1350" i="1" dirty="0">
                <a:solidFill>
                  <a:srgbClr val="3A3D41"/>
                </a:solidFill>
                <a:latin typeface="Calibri" pitchFamily="34" charset="0"/>
                <a:ea typeface="Calibri" pitchFamily="34" charset="-122"/>
                <a:cs typeface="Calibri" pitchFamily="34" charset="-120"/>
              </a:rPr>
              <a:t>“You're an experienced LS teacher. Keep all six key terms, max 200 words, don't simplify the science.”</a:t>
            </a:r>
            <a:endParaRPr lang="en-US" sz="1350" dirty="0"/>
          </a:p>
        </p:txBody>
      </p:sp>
      <p:sp>
        <p:nvSpPr>
          <p:cNvPr id="22" name="Shape 20"/>
          <p:cNvSpPr/>
          <p:nvPr/>
        </p:nvSpPr>
        <p:spPr>
          <a:xfrm>
            <a:off x="640080" y="4846320"/>
            <a:ext cx="10908792" cy="914400"/>
          </a:xfrm>
          <a:prstGeom prst="roundRect">
            <a:avLst>
              <a:gd name="adj" fmla="val 8000"/>
            </a:avLst>
          </a:prstGeom>
          <a:solidFill>
            <a:srgbClr val="FFFFFF"/>
          </a:solidFill>
          <a:ln w="12700">
            <a:solidFill>
              <a:srgbClr val="E4E4DE"/>
            </a:solidFill>
            <a:prstDash val="solid"/>
          </a:ln>
        </p:spPr>
        <p:txBody>
          <a:bodyPr/>
          <a:p/>
        </p:txBody>
      </p:sp>
      <p:sp>
        <p:nvSpPr>
          <p:cNvPr id="23" name="Shape 21"/>
          <p:cNvSpPr/>
          <p:nvPr/>
        </p:nvSpPr>
        <p:spPr>
          <a:xfrm>
            <a:off x="896112" y="5065776"/>
            <a:ext cx="475488" cy="475488"/>
          </a:xfrm>
          <a:prstGeom prst="ellipse">
            <a:avLst/>
          </a:prstGeom>
          <a:solidFill>
            <a:srgbClr val="F5C518"/>
          </a:solidFill>
          <a:ln/>
        </p:spPr>
        <p:txBody>
          <a:bodyPr/>
          <a:p/>
        </p:txBody>
      </p:sp>
      <p:sp>
        <p:nvSpPr>
          <p:cNvPr id="24" name="Text 22"/>
          <p:cNvSpPr/>
          <p:nvPr/>
        </p:nvSpPr>
        <p:spPr>
          <a:xfrm>
            <a:off x="896112" y="5065776"/>
            <a:ext cx="475488" cy="475488"/>
          </a:xfrm>
          <a:prstGeom prst="rect">
            <a:avLst/>
          </a:prstGeom>
          <a:noFill/>
          <a:ln/>
        </p:spPr>
        <p:txBody>
          <a:bodyPr wrap="square" lIns="0" tIns="0" rIns="0" bIns="0" rtlCol="0" anchor="ctr"/>
          <a:lstStyle/>
          <a:p>
            <a:pPr algn="ctr" indent="0" marL="0">
              <a:buNone/>
            </a:pPr>
            <a:r>
              <a:rPr lang="en-US" sz="1800" b="1" dirty="0">
                <a:solidFill>
                  <a:srgbClr val="1C1E21"/>
                </a:solidFill>
                <a:latin typeface="Arial" pitchFamily="34" charset="0"/>
                <a:ea typeface="Arial" pitchFamily="34" charset="-122"/>
                <a:cs typeface="Arial" pitchFamily="34" charset="-120"/>
              </a:rPr>
              <a:t>E</a:t>
            </a:r>
            <a:endParaRPr lang="en-US" sz="1800" dirty="0"/>
          </a:p>
        </p:txBody>
      </p:sp>
      <p:sp>
        <p:nvSpPr>
          <p:cNvPr id="25" name="Text 23"/>
          <p:cNvSpPr/>
          <p:nvPr/>
        </p:nvSpPr>
        <p:spPr>
          <a:xfrm>
            <a:off x="1554480" y="4992624"/>
            <a:ext cx="3291840" cy="292608"/>
          </a:xfrm>
          <a:prstGeom prst="rect">
            <a:avLst/>
          </a:prstGeom>
          <a:noFill/>
          <a:ln/>
        </p:spPr>
        <p:txBody>
          <a:bodyPr wrap="square" lIns="0" tIns="0" rIns="0" bIns="0" rtlCol="0" anchor="ctr"/>
          <a:lstStyle/>
          <a:p>
            <a:pPr indent="0" marL="0">
              <a:buNone/>
            </a:pPr>
            <a:r>
              <a:rPr lang="en-US" sz="1300" b="1" spc="100" kern="0" dirty="0">
                <a:solidFill>
                  <a:srgbClr val="1C1E21"/>
                </a:solidFill>
                <a:latin typeface="Arial" pitchFamily="34" charset="0"/>
                <a:ea typeface="Arial" pitchFamily="34" charset="-122"/>
                <a:cs typeface="Arial" pitchFamily="34" charset="-120"/>
              </a:rPr>
              <a:t>EVALUATION &amp; EXAMPLES</a:t>
            </a:r>
            <a:endParaRPr lang="en-US" sz="1300" dirty="0"/>
          </a:p>
        </p:txBody>
      </p:sp>
      <p:sp>
        <p:nvSpPr>
          <p:cNvPr id="26" name="Text 24"/>
          <p:cNvSpPr/>
          <p:nvPr/>
        </p:nvSpPr>
        <p:spPr>
          <a:xfrm>
            <a:off x="1554480" y="5321808"/>
            <a:ext cx="3291840" cy="365760"/>
          </a:xfrm>
          <a:prstGeom prst="rect">
            <a:avLst/>
          </a:prstGeom>
          <a:noFill/>
          <a:ln/>
        </p:spPr>
        <p:txBody>
          <a:bodyPr wrap="square" lIns="0" tIns="0" rIns="0" bIns="0" rtlCol="0" anchor="t"/>
          <a:lstStyle/>
          <a:p>
            <a:pPr indent="0" marL="0">
              <a:buNone/>
            </a:pPr>
            <a:r>
              <a:rPr lang="en-US" sz="1250" dirty="0">
                <a:solidFill>
                  <a:srgbClr val="6B7075"/>
                </a:solidFill>
                <a:latin typeface="Calibri" pitchFamily="34" charset="0"/>
                <a:ea typeface="Calibri" pitchFamily="34" charset="-122"/>
                <a:cs typeface="Calibri" pitchFamily="34" charset="-120"/>
              </a:rPr>
              <a:t>One example of good — and how you'll judge what comes back.</a:t>
            </a:r>
            <a:endParaRPr lang="en-US" sz="1250" dirty="0"/>
          </a:p>
        </p:txBody>
      </p:sp>
      <p:sp>
        <p:nvSpPr>
          <p:cNvPr id="27" name="Text 25"/>
          <p:cNvSpPr/>
          <p:nvPr/>
        </p:nvSpPr>
        <p:spPr>
          <a:xfrm>
            <a:off x="5669280" y="4846320"/>
            <a:ext cx="5623560" cy="914400"/>
          </a:xfrm>
          <a:prstGeom prst="rect">
            <a:avLst/>
          </a:prstGeom>
          <a:noFill/>
          <a:ln/>
        </p:spPr>
        <p:txBody>
          <a:bodyPr wrap="square" lIns="0" tIns="0" rIns="0" bIns="0" rtlCol="0" anchor="ctr"/>
          <a:lstStyle/>
          <a:p>
            <a:pPr indent="0" marL="0">
              <a:buNone/>
            </a:pPr>
            <a:r>
              <a:rPr lang="en-US" sz="1350" i="1" dirty="0">
                <a:solidFill>
                  <a:srgbClr val="3A3D41"/>
                </a:solidFill>
                <a:latin typeface="Calibri" pitchFamily="34" charset="0"/>
                <a:ea typeface="Calibri" pitchFamily="34" charset="-122"/>
                <a:cs typeface="Calibri" pitchFamily="34" charset="-120"/>
              </a:rPr>
              <a:t>“Match the tone of this line: […]. Then flag any term that still needs pre-teaching.”</a:t>
            </a:r>
            <a:endParaRPr lang="en-US" sz="1350" dirty="0"/>
          </a:p>
        </p:txBody>
      </p:sp>
      <p:sp>
        <p:nvSpPr>
          <p:cNvPr id="28" name="Text 26"/>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Four lines, about forty seconds. Role and examples are the two people skip — and they're the two that move the answer most.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SAME TOOL, SAME MINUTE</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What the C.O.R.E. actually buys you.</a:t>
            </a:r>
            <a:endParaRPr lang="en-US" sz="3300" dirty="0"/>
          </a:p>
        </p:txBody>
      </p:sp>
      <p:sp>
        <p:nvSpPr>
          <p:cNvPr id="4" name="Shape 2"/>
          <p:cNvSpPr/>
          <p:nvPr/>
        </p:nvSpPr>
        <p:spPr>
          <a:xfrm>
            <a:off x="640080" y="1691640"/>
            <a:ext cx="5289804" cy="4023360"/>
          </a:xfrm>
          <a:prstGeom prst="roundRect">
            <a:avLst>
              <a:gd name="adj" fmla="val 2273"/>
            </a:avLst>
          </a:prstGeom>
          <a:solidFill>
            <a:srgbClr val="FBEDEA"/>
          </a:solidFill>
          <a:ln/>
        </p:spPr>
        <p:txBody>
          <a:bodyPr/>
          <a:p/>
        </p:txBody>
      </p:sp>
      <p:sp>
        <p:nvSpPr>
          <p:cNvPr id="5" name="Text 3"/>
          <p:cNvSpPr/>
          <p:nvPr/>
        </p:nvSpPr>
        <p:spPr>
          <a:xfrm>
            <a:off x="1005840" y="1901952"/>
            <a:ext cx="4558284" cy="274320"/>
          </a:xfrm>
          <a:prstGeom prst="rect">
            <a:avLst/>
          </a:prstGeom>
          <a:noFill/>
          <a:ln/>
        </p:spPr>
        <p:txBody>
          <a:bodyPr wrap="square" lIns="0" tIns="0" rIns="0" bIns="0" rtlCol="0" anchor="ctr"/>
          <a:lstStyle/>
          <a:p>
            <a:pPr indent="0" marL="0">
              <a:buNone/>
            </a:pPr>
            <a:r>
              <a:rPr lang="en-US" sz="1150" b="1" spc="200" kern="0" dirty="0">
                <a:solidFill>
                  <a:srgbClr val="C8402F"/>
                </a:solidFill>
                <a:latin typeface="Arial" pitchFamily="34" charset="0"/>
                <a:ea typeface="Arial" pitchFamily="34" charset="-122"/>
                <a:cs typeface="Arial" pitchFamily="34" charset="-120"/>
              </a:rPr>
              <a:t>NO SCAFFOLD</a:t>
            </a:r>
            <a:endParaRPr lang="en-US" sz="1150" dirty="0"/>
          </a:p>
        </p:txBody>
      </p:sp>
      <p:sp>
        <p:nvSpPr>
          <p:cNvPr id="6" name="Text 4"/>
          <p:cNvSpPr/>
          <p:nvPr/>
        </p:nvSpPr>
        <p:spPr>
          <a:xfrm>
            <a:off x="1005840" y="2286000"/>
            <a:ext cx="4558284" cy="822960"/>
          </a:xfrm>
          <a:prstGeom prst="rect">
            <a:avLst/>
          </a:prstGeom>
          <a:noFill/>
          <a:ln/>
        </p:spPr>
        <p:txBody>
          <a:bodyPr wrap="square" lIns="0" tIns="0" rIns="0" bIns="0" rtlCol="0" anchor="t"/>
          <a:lstStyle/>
          <a:p>
            <a:pPr indent="0" marL="0">
              <a:lnSpc>
                <a:spcPct val="115000"/>
              </a:lnSpc>
              <a:buNone/>
            </a:pPr>
            <a:r>
              <a:rPr lang="en-US" sz="1700" b="1" dirty="0">
                <a:solidFill>
                  <a:srgbClr val="1C1E21"/>
                </a:solidFill>
                <a:latin typeface="Arial" pitchFamily="34" charset="0"/>
                <a:ea typeface="Arial" pitchFamily="34" charset="-122"/>
                <a:cs typeface="Arial" pitchFamily="34" charset="-120"/>
              </a:rPr>
              <a:t>“Make a worksheet for a struggling student.”</a:t>
            </a:r>
            <a:endParaRPr lang="en-US" sz="1700" dirty="0"/>
          </a:p>
        </p:txBody>
      </p:sp>
      <p:sp>
        <p:nvSpPr>
          <p:cNvPr id="7" name="Text 5"/>
          <p:cNvSpPr/>
          <p:nvPr/>
        </p:nvSpPr>
        <p:spPr>
          <a:xfrm>
            <a:off x="1005840" y="3291840"/>
            <a:ext cx="4558284" cy="2194560"/>
          </a:xfrm>
          <a:prstGeom prst="rect">
            <a:avLst/>
          </a:prstGeom>
          <a:noFill/>
          <a:ln/>
        </p:spPr>
        <p:txBody>
          <a:bodyPr wrap="square" lIns="0" tIns="0" rIns="0" bIns="0" rtlCol="0" anchor="t"/>
          <a:lstStyle/>
          <a:p>
            <a:pPr indent="0" marL="0">
              <a:lnSpc>
                <a:spcPct val="128000"/>
              </a:lnSpc>
              <a:buNone/>
            </a:pPr>
            <a:r>
              <a:rPr lang="en-US" sz="1350" b="1" dirty="0">
                <a:solidFill>
                  <a:srgbClr val="1C1E21"/>
                </a:solidFill>
                <a:latin typeface="Calibri" pitchFamily="34" charset="0"/>
                <a:ea typeface="Calibri" pitchFamily="34" charset="-122"/>
                <a:cs typeface="Calibri" pitchFamily="34" charset="-120"/>
              </a:rPr>
              <a:t>What comes back:</a:t>
            </a:r>
            <a:endParaRPr lang="en-US" sz="1350" dirty="0"/>
          </a:p>
          <a:p>
            <a:pPr indent="0" marL="0">
              <a:lnSpc>
                <a:spcPct val="128000"/>
              </a:lnSpc>
              <a:buNone/>
            </a:pPr>
            <a:r>
              <a:rPr lang="en-US" sz="1350" dirty="0">
                <a:solidFill>
                  <a:srgbClr val="3A3D41"/>
                </a:solidFill>
                <a:latin typeface="Calibri" pitchFamily="34" charset="0"/>
                <a:ea typeface="Calibri" pitchFamily="34" charset="-122"/>
                <a:cs typeface="Calibri" pitchFamily="34" charset="-120"/>
              </a:rPr>
              <a:t>Generic content, wrong reading level, no link to your curriculum, no scaffolds, an invented context. You rewrite the lot.</a:t>
            </a:r>
            <a:endParaRPr lang="en-US" sz="1350" dirty="0"/>
          </a:p>
          <a:p>
            <a:pPr indent="0" marL="0">
              <a:lnSpc>
                <a:spcPct val="128000"/>
              </a:lnSpc>
              <a:buNone/>
            </a:pPr>
            <a:r>
              <a:rPr lang="en-US" sz="900" dirty="0">
                <a:solidFill>
                  <a:srgbClr val="000000"/>
                </a:solidFill>
                <a:latin typeface="Calibri" pitchFamily="34" charset="0"/>
                <a:ea typeface="Calibri" pitchFamily="34" charset="-122"/>
                <a:cs typeface="Calibri" pitchFamily="34" charset="-120"/>
              </a:rPr>
              <a:t> </a:t>
            </a:r>
            <a:endParaRPr lang="en-US" sz="1350" dirty="0"/>
          </a:p>
          <a:p>
            <a:pPr indent="0" marL="0">
              <a:lnSpc>
                <a:spcPct val="128000"/>
              </a:lnSpc>
              <a:buNone/>
            </a:pPr>
            <a:r>
              <a:rPr lang="en-US" sz="1350" b="1" i="1" dirty="0">
                <a:solidFill>
                  <a:srgbClr val="C8402F"/>
                </a:solidFill>
                <a:latin typeface="Calibri" pitchFamily="34" charset="0"/>
                <a:ea typeface="Calibri" pitchFamily="34" charset="-122"/>
                <a:cs typeface="Calibri" pitchFamily="34" charset="-120"/>
              </a:rPr>
              <a:t>Net time saved: negative.</a:t>
            </a:r>
            <a:endParaRPr lang="en-US" sz="1350" dirty="0"/>
          </a:p>
        </p:txBody>
      </p:sp>
      <p:sp>
        <p:nvSpPr>
          <p:cNvPr id="8" name="Shape 6"/>
          <p:cNvSpPr/>
          <p:nvPr/>
        </p:nvSpPr>
        <p:spPr>
          <a:xfrm>
            <a:off x="6259068" y="1691640"/>
            <a:ext cx="5289804" cy="4023360"/>
          </a:xfrm>
          <a:prstGeom prst="roundRect">
            <a:avLst>
              <a:gd name="adj" fmla="val 2273"/>
            </a:avLst>
          </a:prstGeom>
          <a:solidFill>
            <a:srgbClr val="EAF3EE"/>
          </a:solidFill>
          <a:ln/>
        </p:spPr>
        <p:txBody>
          <a:bodyPr/>
          <a:p/>
        </p:txBody>
      </p:sp>
      <p:sp>
        <p:nvSpPr>
          <p:cNvPr id="9" name="Text 7"/>
          <p:cNvSpPr/>
          <p:nvPr/>
        </p:nvSpPr>
        <p:spPr>
          <a:xfrm>
            <a:off x="6624828" y="1901952"/>
            <a:ext cx="4558284" cy="274320"/>
          </a:xfrm>
          <a:prstGeom prst="rect">
            <a:avLst/>
          </a:prstGeom>
          <a:noFill/>
          <a:ln/>
        </p:spPr>
        <p:txBody>
          <a:bodyPr wrap="square" lIns="0" tIns="0" rIns="0" bIns="0" rtlCol="0" anchor="ctr"/>
          <a:lstStyle/>
          <a:p>
            <a:pPr indent="0" marL="0">
              <a:buNone/>
            </a:pPr>
            <a:r>
              <a:rPr lang="en-US" sz="1150" b="1" spc="200" kern="0" dirty="0">
                <a:solidFill>
                  <a:srgbClr val="2F7D5B"/>
                </a:solidFill>
                <a:latin typeface="Arial" pitchFamily="34" charset="0"/>
                <a:ea typeface="Arial" pitchFamily="34" charset="-122"/>
                <a:cs typeface="Arial" pitchFamily="34" charset="-120"/>
              </a:rPr>
              <a:t>WITH THE C.O.R.E.</a:t>
            </a:r>
            <a:endParaRPr lang="en-US" sz="1150" dirty="0"/>
          </a:p>
        </p:txBody>
      </p:sp>
      <p:sp>
        <p:nvSpPr>
          <p:cNvPr id="10" name="Text 8"/>
          <p:cNvSpPr/>
          <p:nvPr/>
        </p:nvSpPr>
        <p:spPr>
          <a:xfrm>
            <a:off x="6624828" y="2286000"/>
            <a:ext cx="4558284" cy="2880360"/>
          </a:xfrm>
          <a:prstGeom prst="rect">
            <a:avLst/>
          </a:prstGeom>
          <a:noFill/>
          <a:ln/>
        </p:spPr>
        <p:txBody>
          <a:bodyPr wrap="square" lIns="0" tIns="0" rIns="0" bIns="0" rtlCol="0" anchor="t"/>
          <a:lstStyle/>
          <a:p>
            <a:pPr indent="0" marL="0">
              <a:lnSpc>
                <a:spcPct val="122000"/>
              </a:lnSpc>
              <a:buNone/>
            </a:pPr>
            <a:r>
              <a:rPr lang="en-US" sz="1250" dirty="0">
                <a:solidFill>
                  <a:srgbClr val="3A3D41"/>
                </a:solidFill>
                <a:latin typeface="Calibri" pitchFamily="34" charset="0"/>
                <a:ea typeface="Calibri" pitchFamily="34" charset="-122"/>
                <a:cs typeface="Calibri" pitchFamily="34" charset="-120"/>
              </a:rPr>
              <a:t>“You're an experienced learning support teacher. Year 8 student, mainstream science, decoding at roughly Year 3 level, one TA. Rewrite the passage below so they can access it independently — two-column table, original and simplified. Keep all six key terms bold, max 200 words, don't simplify the science. Match the tone of: 'Water moves from a weak solution to a strong one.' Then flag any term still needing pre-teaching.”</a:t>
            </a:r>
            <a:endParaRPr lang="en-US" sz="1250" dirty="0"/>
          </a:p>
        </p:txBody>
      </p:sp>
      <p:sp>
        <p:nvSpPr>
          <p:cNvPr id="11" name="Text 9"/>
          <p:cNvSpPr/>
          <p:nvPr/>
        </p:nvSpPr>
        <p:spPr>
          <a:xfrm>
            <a:off x="6624828" y="5230368"/>
            <a:ext cx="4558284" cy="457200"/>
          </a:xfrm>
          <a:prstGeom prst="rect">
            <a:avLst/>
          </a:prstGeom>
          <a:noFill/>
          <a:ln/>
        </p:spPr>
        <p:txBody>
          <a:bodyPr wrap="square" lIns="0" tIns="0" rIns="0" bIns="0" rtlCol="0" anchor="t"/>
          <a:lstStyle/>
          <a:p>
            <a:pPr indent="0" marL="0">
              <a:buNone/>
            </a:pPr>
            <a:r>
              <a:rPr lang="en-US" sz="1350" b="1" i="1" dirty="0">
                <a:solidFill>
                  <a:srgbClr val="2F7D5B"/>
                </a:solidFill>
                <a:latin typeface="Calibri" pitchFamily="34" charset="0"/>
                <a:ea typeface="Calibri" pitchFamily="34" charset="-122"/>
                <a:cs typeface="Calibri" pitchFamily="34" charset="-120"/>
              </a:rPr>
              <a:t>What comes back: something you edit for five minutes and use.</a:t>
            </a:r>
            <a:endParaRPr lang="en-US" sz="1350" dirty="0"/>
          </a:p>
        </p:txBody>
      </p:sp>
      <p:sp>
        <p:nvSpPr>
          <p:cNvPr id="12" name="Text 10"/>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Notice there isn't a single student detail in the good prompt. Specific about the barrier, anonymous about the child.</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10972800" cy="237744"/>
          </a:xfrm>
          <a:prstGeom prst="rect">
            <a:avLst/>
          </a:prstGeom>
          <a:noFill/>
          <a:ln/>
        </p:spPr>
        <p:txBody>
          <a:bodyPr wrap="square" lIns="0" tIns="0" rIns="0" bIns="0" rtlCol="0" anchor="ctr"/>
          <a:lstStyle/>
          <a:p>
            <a:pPr indent="0" marL="0">
              <a:buNone/>
            </a:pPr>
            <a:r>
              <a:rPr lang="en-US" sz="1100" b="1" spc="200" kern="0" dirty="0">
                <a:solidFill>
                  <a:srgbClr val="6B7075"/>
                </a:solidFill>
                <a:latin typeface="Arial" pitchFamily="34" charset="0"/>
                <a:ea typeface="Arial" pitchFamily="34" charset="-122"/>
                <a:cs typeface="Arial" pitchFamily="34" charset="-120"/>
              </a:rPr>
              <a:t>BRAKE THREE</a:t>
            </a:r>
            <a:endParaRPr lang="en-US" sz="1100" dirty="0"/>
          </a:p>
        </p:txBody>
      </p:sp>
      <p:sp>
        <p:nvSpPr>
          <p:cNvPr id="3" name="Text 1"/>
          <p:cNvSpPr/>
          <p:nvPr/>
        </p:nvSpPr>
        <p:spPr>
          <a:xfrm>
            <a:off x="640080" y="676656"/>
            <a:ext cx="10881360" cy="822960"/>
          </a:xfrm>
          <a:prstGeom prst="rect">
            <a:avLst/>
          </a:prstGeom>
          <a:noFill/>
          <a:ln/>
        </p:spPr>
        <p:txBody>
          <a:bodyPr wrap="square" lIns="0" tIns="0" rIns="0" bIns="0" rtlCol="0" anchor="t"/>
          <a:lstStyle/>
          <a:p>
            <a:pPr indent="0" marL="0">
              <a:buNone/>
            </a:pPr>
            <a:r>
              <a:rPr lang="en-US" sz="3300" b="1" dirty="0">
                <a:solidFill>
                  <a:srgbClr val="1C1E21"/>
                </a:solidFill>
                <a:latin typeface="Arial" pitchFamily="34" charset="0"/>
                <a:ea typeface="Arial" pitchFamily="34" charset="-122"/>
                <a:cs typeface="Arial" pitchFamily="34" charset="-120"/>
              </a:rPr>
              <a:t>The three-point check, on the way out.</a:t>
            </a:r>
            <a:endParaRPr lang="en-US" sz="3300" dirty="0"/>
          </a:p>
        </p:txBody>
      </p:sp>
      <p:sp>
        <p:nvSpPr>
          <p:cNvPr id="4" name="Text 2"/>
          <p:cNvSpPr/>
          <p:nvPr/>
        </p:nvSpPr>
        <p:spPr>
          <a:xfrm>
            <a:off x="640080" y="1554480"/>
            <a:ext cx="10908792" cy="365760"/>
          </a:xfrm>
          <a:prstGeom prst="rect">
            <a:avLst/>
          </a:prstGeom>
          <a:noFill/>
          <a:ln/>
        </p:spPr>
        <p:txBody>
          <a:bodyPr wrap="square" lIns="0" tIns="0" rIns="0" bIns="0" rtlCol="0" anchor="t"/>
          <a:lstStyle/>
          <a:p>
            <a:pPr indent="0" marL="0">
              <a:buNone/>
            </a:pPr>
            <a:r>
              <a:rPr lang="en-US" sz="1500" dirty="0">
                <a:solidFill>
                  <a:srgbClr val="45484C"/>
                </a:solidFill>
                <a:latin typeface="Calibri" pitchFamily="34" charset="0"/>
                <a:ea typeface="Calibri" pitchFamily="34" charset="-122"/>
                <a:cs typeface="Calibri" pitchFamily="34" charset="-120"/>
              </a:rPr>
              <a:t>Run this on the output, before it goes anywhere near a student, a parent, or a file.</a:t>
            </a:r>
            <a:endParaRPr lang="en-US" sz="1500" dirty="0"/>
          </a:p>
        </p:txBody>
      </p:sp>
      <p:sp>
        <p:nvSpPr>
          <p:cNvPr id="5" name="Shape 3"/>
          <p:cNvSpPr/>
          <p:nvPr/>
        </p:nvSpPr>
        <p:spPr>
          <a:xfrm>
            <a:off x="640080" y="2148840"/>
            <a:ext cx="3416808" cy="342900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sp>
      <p:sp>
        <p:nvSpPr>
          <p:cNvPr id="6" name="Shape 4"/>
          <p:cNvSpPr/>
          <p:nvPr/>
        </p:nvSpPr>
        <p:spPr>
          <a:xfrm>
            <a:off x="987552" y="2450592"/>
            <a:ext cx="548640" cy="548640"/>
          </a:xfrm>
          <a:prstGeom prst="ellipse">
            <a:avLst/>
          </a:prstGeom>
          <a:solidFill>
            <a:srgbClr val="F5C518"/>
          </a:solidFill>
          <a:ln/>
        </p:spPr>
      </p:sp>
      <p:sp>
        <p:nvSpPr>
          <p:cNvPr id="7" name="Text 5"/>
          <p:cNvSpPr/>
          <p:nvPr/>
        </p:nvSpPr>
        <p:spPr>
          <a:xfrm>
            <a:off x="987552" y="2450592"/>
            <a:ext cx="548640" cy="548640"/>
          </a:xfrm>
          <a:prstGeom prst="rect">
            <a:avLst/>
          </a:prstGeom>
          <a:noFill/>
          <a:ln/>
        </p:spPr>
        <p:txBody>
          <a:bodyPr wrap="square" lIns="0" tIns="0" rIns="0" bIns="0" rtlCol="0" anchor="ctr"/>
          <a:lstStyle/>
          <a:p>
            <a:pPr algn="ctr" indent="0" marL="0">
              <a:buNone/>
            </a:pPr>
            <a:r>
              <a:rPr lang="en-US" sz="1700" b="1" dirty="0">
                <a:solidFill>
                  <a:srgbClr val="1C1E21"/>
                </a:solidFill>
                <a:latin typeface="Arial" pitchFamily="34" charset="0"/>
                <a:ea typeface="Arial" pitchFamily="34" charset="-122"/>
                <a:cs typeface="Arial" pitchFamily="34" charset="-120"/>
              </a:rPr>
              <a:t>1</a:t>
            </a:r>
            <a:endParaRPr lang="en-US" sz="1700" dirty="0"/>
          </a:p>
        </p:txBody>
      </p:sp>
      <p:sp>
        <p:nvSpPr>
          <p:cNvPr id="8" name="Text 6"/>
          <p:cNvSpPr/>
          <p:nvPr/>
        </p:nvSpPr>
        <p:spPr>
          <a:xfrm>
            <a:off x="987552" y="3200400"/>
            <a:ext cx="2721864" cy="502920"/>
          </a:xfrm>
          <a:prstGeom prst="rect">
            <a:avLst/>
          </a:prstGeom>
          <a:noFill/>
          <a:ln/>
        </p:spPr>
        <p:txBody>
          <a:bodyPr wrap="square" lIns="0" tIns="0" rIns="0" bIns="0" rtlCol="0" anchor="t"/>
          <a:lstStyle/>
          <a:p>
            <a:pPr indent="0" marL="0">
              <a:buNone/>
            </a:pPr>
            <a:r>
              <a:rPr lang="en-US" sz="1500" b="1" dirty="0">
                <a:solidFill>
                  <a:srgbClr val="1C1E21"/>
                </a:solidFill>
                <a:latin typeface="Arial" pitchFamily="34" charset="0"/>
                <a:ea typeface="Arial" pitchFamily="34" charset="-122"/>
                <a:cs typeface="Arial" pitchFamily="34" charset="-120"/>
              </a:rPr>
              <a:t>IS IT TRUE?</a:t>
            </a:r>
            <a:endParaRPr lang="en-US" sz="1500" dirty="0"/>
          </a:p>
        </p:txBody>
      </p:sp>
      <p:sp>
        <p:nvSpPr>
          <p:cNvPr id="9" name="Text 7"/>
          <p:cNvSpPr/>
          <p:nvPr/>
        </p:nvSpPr>
        <p:spPr>
          <a:xfrm>
            <a:off x="987552" y="3794760"/>
            <a:ext cx="2721864" cy="160020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Every strategy, statistic, criterion or citation gets checked against something you'd be willing to cite in a meeting. If you can't verify it, cut it. Don't soften it — cut it.</a:t>
            </a:r>
            <a:endParaRPr lang="en-US" sz="1350" dirty="0"/>
          </a:p>
        </p:txBody>
      </p:sp>
      <p:sp>
        <p:nvSpPr>
          <p:cNvPr id="10" name="Shape 8"/>
          <p:cNvSpPr/>
          <p:nvPr/>
        </p:nvSpPr>
        <p:spPr>
          <a:xfrm>
            <a:off x="4386072" y="2148840"/>
            <a:ext cx="3416808" cy="342900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sp>
      <p:sp>
        <p:nvSpPr>
          <p:cNvPr id="11" name="Shape 9"/>
          <p:cNvSpPr/>
          <p:nvPr/>
        </p:nvSpPr>
        <p:spPr>
          <a:xfrm>
            <a:off x="4733544" y="2450592"/>
            <a:ext cx="548640" cy="548640"/>
          </a:xfrm>
          <a:prstGeom prst="ellipse">
            <a:avLst/>
          </a:prstGeom>
          <a:solidFill>
            <a:srgbClr val="F5C518"/>
          </a:solidFill>
          <a:ln/>
        </p:spPr>
      </p:sp>
      <p:sp>
        <p:nvSpPr>
          <p:cNvPr id="12" name="Text 10"/>
          <p:cNvSpPr/>
          <p:nvPr/>
        </p:nvSpPr>
        <p:spPr>
          <a:xfrm>
            <a:off x="4733544" y="2450592"/>
            <a:ext cx="548640" cy="548640"/>
          </a:xfrm>
          <a:prstGeom prst="rect">
            <a:avLst/>
          </a:prstGeom>
          <a:noFill/>
          <a:ln/>
        </p:spPr>
        <p:txBody>
          <a:bodyPr wrap="square" lIns="0" tIns="0" rIns="0" bIns="0" rtlCol="0" anchor="ctr"/>
          <a:lstStyle/>
          <a:p>
            <a:pPr algn="ctr" indent="0" marL="0">
              <a:buNone/>
            </a:pPr>
            <a:r>
              <a:rPr lang="en-US" sz="1700" b="1" dirty="0">
                <a:solidFill>
                  <a:srgbClr val="1C1E21"/>
                </a:solidFill>
                <a:latin typeface="Arial" pitchFamily="34" charset="0"/>
                <a:ea typeface="Arial" pitchFamily="34" charset="-122"/>
                <a:cs typeface="Arial" pitchFamily="34" charset="-120"/>
              </a:rPr>
              <a:t>2</a:t>
            </a:r>
            <a:endParaRPr lang="en-US" sz="1700" dirty="0"/>
          </a:p>
        </p:txBody>
      </p:sp>
      <p:sp>
        <p:nvSpPr>
          <p:cNvPr id="13" name="Text 11"/>
          <p:cNvSpPr/>
          <p:nvPr/>
        </p:nvSpPr>
        <p:spPr>
          <a:xfrm>
            <a:off x="4733544" y="3200400"/>
            <a:ext cx="2721864" cy="502920"/>
          </a:xfrm>
          <a:prstGeom prst="rect">
            <a:avLst/>
          </a:prstGeom>
          <a:noFill/>
          <a:ln/>
        </p:spPr>
        <p:txBody>
          <a:bodyPr wrap="square" lIns="0" tIns="0" rIns="0" bIns="0" rtlCol="0" anchor="t"/>
          <a:lstStyle/>
          <a:p>
            <a:pPr indent="0" marL="0">
              <a:buNone/>
            </a:pPr>
            <a:r>
              <a:rPr lang="en-US" sz="1500" b="1" dirty="0">
                <a:solidFill>
                  <a:srgbClr val="1C1E21"/>
                </a:solidFill>
                <a:latin typeface="Arial" pitchFamily="34" charset="0"/>
                <a:ea typeface="Arial" pitchFamily="34" charset="-122"/>
                <a:cs typeface="Arial" pitchFamily="34" charset="-120"/>
              </a:rPr>
              <a:t>IS IT MINE?</a:t>
            </a:r>
            <a:endParaRPr lang="en-US" sz="1500" dirty="0"/>
          </a:p>
        </p:txBody>
      </p:sp>
      <p:sp>
        <p:nvSpPr>
          <p:cNvPr id="14" name="Text 12"/>
          <p:cNvSpPr/>
          <p:nvPr/>
        </p:nvSpPr>
        <p:spPr>
          <a:xfrm>
            <a:off x="4733544" y="3794760"/>
            <a:ext cx="2721864" cy="160020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Would I have written this? If it isn't the call you'd have made, it doesn't go in. Rewrite it in your own voice, especially for anything formal or anything a parent will read.</a:t>
            </a:r>
            <a:endParaRPr lang="en-US" sz="1350" dirty="0"/>
          </a:p>
        </p:txBody>
      </p:sp>
      <p:sp>
        <p:nvSpPr>
          <p:cNvPr id="15" name="Shape 13"/>
          <p:cNvSpPr/>
          <p:nvPr/>
        </p:nvSpPr>
        <p:spPr>
          <a:xfrm>
            <a:off x="8132064" y="2148840"/>
            <a:ext cx="3416808" cy="3429000"/>
          </a:xfrm>
          <a:prstGeom prst="roundRect">
            <a:avLst>
              <a:gd name="adj" fmla="val 2676"/>
            </a:avLst>
          </a:prstGeom>
          <a:solidFill>
            <a:srgbClr val="F5F5F2"/>
          </a:solidFill>
          <a:ln w="12700">
            <a:solidFill>
              <a:srgbClr val="E4E4DE"/>
            </a:solidFill>
            <a:prstDash val="solid"/>
          </a:ln>
          <a:effectLst>
            <a:outerShdw sx="100000" sy="100000" kx="0" ky="0" algn="bl" rotWithShape="0" blurRad="127000" dist="25400" dir="5400000">
              <a:srgbClr val="9A9A94">
                <a:alpha val="25000"/>
              </a:srgbClr>
            </a:outerShdw>
          </a:effectLst>
        </p:spPr>
      </p:sp>
      <p:sp>
        <p:nvSpPr>
          <p:cNvPr id="16" name="Shape 14"/>
          <p:cNvSpPr/>
          <p:nvPr/>
        </p:nvSpPr>
        <p:spPr>
          <a:xfrm>
            <a:off x="8479536" y="2450592"/>
            <a:ext cx="548640" cy="548640"/>
          </a:xfrm>
          <a:prstGeom prst="ellipse">
            <a:avLst/>
          </a:prstGeom>
          <a:solidFill>
            <a:srgbClr val="F5C518"/>
          </a:solidFill>
          <a:ln/>
        </p:spPr>
      </p:sp>
      <p:sp>
        <p:nvSpPr>
          <p:cNvPr id="17" name="Text 15"/>
          <p:cNvSpPr/>
          <p:nvPr/>
        </p:nvSpPr>
        <p:spPr>
          <a:xfrm>
            <a:off x="8479536" y="2450592"/>
            <a:ext cx="548640" cy="548640"/>
          </a:xfrm>
          <a:prstGeom prst="rect">
            <a:avLst/>
          </a:prstGeom>
          <a:noFill/>
          <a:ln/>
        </p:spPr>
        <p:txBody>
          <a:bodyPr wrap="square" lIns="0" tIns="0" rIns="0" bIns="0" rtlCol="0" anchor="ctr"/>
          <a:lstStyle/>
          <a:p>
            <a:pPr algn="ctr" indent="0" marL="0">
              <a:buNone/>
            </a:pPr>
            <a:r>
              <a:rPr lang="en-US" sz="1700" b="1" dirty="0">
                <a:solidFill>
                  <a:srgbClr val="1C1E21"/>
                </a:solidFill>
                <a:latin typeface="Arial" pitchFamily="34" charset="0"/>
                <a:ea typeface="Arial" pitchFamily="34" charset="-122"/>
                <a:cs typeface="Arial" pitchFamily="34" charset="-120"/>
              </a:rPr>
              <a:t>3</a:t>
            </a:r>
            <a:endParaRPr lang="en-US" sz="1700" dirty="0"/>
          </a:p>
        </p:txBody>
      </p:sp>
      <p:sp>
        <p:nvSpPr>
          <p:cNvPr id="18" name="Text 16"/>
          <p:cNvSpPr/>
          <p:nvPr/>
        </p:nvSpPr>
        <p:spPr>
          <a:xfrm>
            <a:off x="8479536" y="3200400"/>
            <a:ext cx="2721864" cy="502920"/>
          </a:xfrm>
          <a:prstGeom prst="rect">
            <a:avLst/>
          </a:prstGeom>
          <a:noFill/>
          <a:ln/>
        </p:spPr>
        <p:txBody>
          <a:bodyPr wrap="square" lIns="0" tIns="0" rIns="0" bIns="0" rtlCol="0" anchor="t"/>
          <a:lstStyle/>
          <a:p>
            <a:pPr indent="0" marL="0">
              <a:buNone/>
            </a:pPr>
            <a:r>
              <a:rPr lang="en-US" sz="1500" b="1" dirty="0">
                <a:solidFill>
                  <a:srgbClr val="1C1E21"/>
                </a:solidFill>
                <a:latin typeface="Arial" pitchFamily="34" charset="0"/>
                <a:ea typeface="Arial" pitchFamily="34" charset="-122"/>
                <a:cs typeface="Arial" pitchFamily="34" charset="-120"/>
              </a:rPr>
              <a:t>IS ANYONE IDENTIFIABLE?</a:t>
            </a:r>
            <a:endParaRPr lang="en-US" sz="1500" dirty="0"/>
          </a:p>
        </p:txBody>
      </p:sp>
      <p:sp>
        <p:nvSpPr>
          <p:cNvPr id="19" name="Text 17"/>
          <p:cNvSpPr/>
          <p:nvPr/>
        </p:nvSpPr>
        <p:spPr>
          <a:xfrm>
            <a:off x="8479536" y="3794760"/>
            <a:ext cx="2721864" cy="1600200"/>
          </a:xfrm>
          <a:prstGeom prst="rect">
            <a:avLst/>
          </a:prstGeom>
          <a:noFill/>
          <a:ln/>
        </p:spPr>
        <p:txBody>
          <a:bodyPr wrap="square" lIns="0" tIns="0" rIns="0" bIns="0" rtlCol="0" anchor="t"/>
          <a:lstStyle/>
          <a:p>
            <a:pPr indent="0" marL="0">
              <a:lnSpc>
                <a:spcPct val="128000"/>
              </a:lnSpc>
              <a:buNone/>
            </a:pPr>
            <a:r>
              <a:rPr lang="en-US" sz="1350" dirty="0">
                <a:solidFill>
                  <a:srgbClr val="45484C"/>
                </a:solidFill>
                <a:latin typeface="Calibri" pitchFamily="34" charset="0"/>
                <a:ea typeface="Calibri" pitchFamily="34" charset="-122"/>
                <a:cs typeface="Calibri" pitchFamily="34" charset="-120"/>
              </a:rPr>
              <a:t>Check the output, not just what you typed. It will cheerfully invent a student name and you will paste it straight into a real document at 4:40pm.</a:t>
            </a:r>
            <a:endParaRPr lang="en-US" sz="1350" dirty="0"/>
          </a:p>
        </p:txBody>
      </p:sp>
      <p:sp>
        <p:nvSpPr>
          <p:cNvPr id="20" name="Text 18"/>
          <p:cNvSpPr/>
          <p:nvPr/>
        </p:nvSpPr>
        <p:spPr>
          <a:xfrm>
            <a:off x="640080" y="6053328"/>
            <a:ext cx="10908792" cy="457200"/>
          </a:xfrm>
          <a:prstGeom prst="rect">
            <a:avLst/>
          </a:prstGeom>
          <a:noFill/>
          <a:ln/>
        </p:spPr>
        <p:txBody>
          <a:bodyPr wrap="square" lIns="0" tIns="0" rIns="0" bIns="0" rtlCol="0" anchor="t"/>
          <a:lstStyle/>
          <a:p>
            <a:pPr indent="0" marL="0">
              <a:buNone/>
            </a:pPr>
            <a:r>
              <a:rPr lang="en-US" sz="1250" i="1" dirty="0">
                <a:solidFill>
                  <a:srgbClr val="6B7075"/>
                </a:solidFill>
                <a:latin typeface="Calibri" pitchFamily="34" charset="0"/>
                <a:ea typeface="Calibri" pitchFamily="34" charset="-122"/>
                <a:cs typeface="Calibri" pitchFamily="34" charset="-120"/>
              </a:rPr>
              <a:t>Thirty seconds, every single time — and hardest when you're tired. Tired is exactly when the judgement crash happens.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502920"/>
            <a:ext cx="10972800" cy="292608"/>
          </a:xfrm>
          <a:prstGeom prst="rect">
            <a:avLst/>
          </a:prstGeom>
          <a:noFill/>
          <a:ln/>
        </p:spPr>
        <p:txBody>
          <a:bodyPr wrap="square" lIns="0" tIns="0" rIns="0" bIns="0" rtlCol="0" anchor="ctr"/>
          <a:lstStyle/>
          <a:p>
            <a:pPr indent="0" marL="0">
              <a:buNone/>
            </a:pPr>
            <a:r>
              <a:rPr lang="en-US" sz="1200" b="1" spc="300" kern="0" dirty="0">
                <a:solidFill>
                  <a:srgbClr val="F5C518"/>
                </a:solidFill>
                <a:latin typeface="Arial" pitchFamily="34" charset="0"/>
                <a:ea typeface="Arial" pitchFamily="34" charset="-122"/>
                <a:cs typeface="Arial" pitchFamily="34" charset="-120"/>
              </a:rPr>
              <a:t>THE RED LINES</a:t>
            </a:r>
            <a:endParaRPr lang="en-US" sz="1200" dirty="0"/>
          </a:p>
        </p:txBody>
      </p:sp>
      <p:sp>
        <p:nvSpPr>
          <p:cNvPr id="3" name="Text 1"/>
          <p:cNvSpPr/>
          <p:nvPr/>
        </p:nvSpPr>
        <p:spPr>
          <a:xfrm>
            <a:off x="640080" y="868680"/>
            <a:ext cx="10972800" cy="64008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No prompt is good enough to make these okay.</a:t>
            </a:r>
            <a:endParaRPr lang="en-US" sz="3200" dirty="0"/>
          </a:p>
        </p:txBody>
      </p:sp>
      <p:sp>
        <p:nvSpPr>
          <p:cNvPr id="4" name="Shape 2"/>
          <p:cNvSpPr/>
          <p:nvPr/>
        </p:nvSpPr>
        <p:spPr>
          <a:xfrm>
            <a:off x="640080" y="1901952"/>
            <a:ext cx="310896" cy="310896"/>
          </a:xfrm>
          <a:prstGeom prst="ellipse">
            <a:avLst/>
          </a:prstGeom>
          <a:solidFill>
            <a:srgbClr val="C8402F"/>
          </a:solidFill>
          <a:ln/>
        </p:spPr>
        <p:txBody>
          <a:bodyPr/>
          <a:p/>
        </p:txBody>
      </p:sp>
      <p:sp>
        <p:nvSpPr>
          <p:cNvPr id="5" name="Text 3"/>
          <p:cNvSpPr/>
          <p:nvPr/>
        </p:nvSpPr>
        <p:spPr>
          <a:xfrm>
            <a:off x="640080" y="19019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97280" y="1755648"/>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Real names, dates of birth, addresses, photos or student ID numbers.</a:t>
            </a:r>
            <a:endParaRPr lang="en-US" sz="1400" dirty="0"/>
          </a:p>
        </p:txBody>
      </p:sp>
      <p:sp>
        <p:nvSpPr>
          <p:cNvPr id="4" name="Shape 2"/>
          <p:cNvSpPr/>
          <p:nvPr/>
        </p:nvSpPr>
        <p:spPr>
          <a:xfrm>
            <a:off x="6254496" y="1901952"/>
            <a:ext cx="310896" cy="310896"/>
          </a:xfrm>
          <a:prstGeom prst="ellipse">
            <a:avLst/>
          </a:prstGeom>
          <a:solidFill>
            <a:srgbClr val="C8402F"/>
          </a:solidFill>
          <a:ln/>
        </p:spPr>
        <p:txBody>
          <a:bodyPr/>
          <a:p/>
        </p:txBody>
      </p:sp>
      <p:sp>
        <p:nvSpPr>
          <p:cNvPr id="5" name="Text 3"/>
          <p:cNvSpPr/>
          <p:nvPr/>
        </p:nvSpPr>
        <p:spPr>
          <a:xfrm>
            <a:off x="6254496" y="19019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6711696" y="1755648"/>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Anything touching a child protection or safeguarding matter. Ever. Not even de-identified.</a:t>
            </a:r>
            <a:endParaRPr lang="en-US" sz="1400" dirty="0"/>
          </a:p>
        </p:txBody>
      </p:sp>
      <p:sp>
        <p:nvSpPr>
          <p:cNvPr id="4" name="Shape 2"/>
          <p:cNvSpPr/>
          <p:nvPr/>
        </p:nvSpPr>
        <p:spPr>
          <a:xfrm>
            <a:off x="640080" y="2688336"/>
            <a:ext cx="310896" cy="310896"/>
          </a:xfrm>
          <a:prstGeom prst="ellipse">
            <a:avLst/>
          </a:prstGeom>
          <a:solidFill>
            <a:srgbClr val="C8402F"/>
          </a:solidFill>
          <a:ln/>
        </p:spPr>
        <p:txBody>
          <a:bodyPr/>
          <a:p/>
        </p:txBody>
      </p:sp>
      <p:sp>
        <p:nvSpPr>
          <p:cNvPr id="5" name="Text 3"/>
          <p:cNvSpPr/>
          <p:nvPr/>
        </p:nvSpPr>
        <p:spPr>
          <a:xfrm>
            <a:off x="640080" y="26883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97280" y="2542032"/>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Psychology, OT, speech, paediatric or medical reports — no excerpts, no screenshots, no “just this one bit”.</a:t>
            </a:r>
            <a:endParaRPr lang="en-US" sz="1400" dirty="0"/>
          </a:p>
        </p:txBody>
      </p:sp>
      <p:sp>
        <p:nvSpPr>
          <p:cNvPr id="4" name="Shape 2"/>
          <p:cNvSpPr/>
          <p:nvPr/>
        </p:nvSpPr>
        <p:spPr>
          <a:xfrm>
            <a:off x="6254496" y="2688336"/>
            <a:ext cx="310896" cy="310896"/>
          </a:xfrm>
          <a:prstGeom prst="ellipse">
            <a:avLst/>
          </a:prstGeom>
          <a:solidFill>
            <a:srgbClr val="C8402F"/>
          </a:solidFill>
          <a:ln/>
        </p:spPr>
        <p:txBody>
          <a:bodyPr/>
          <a:p/>
        </p:txBody>
      </p:sp>
      <p:sp>
        <p:nvSpPr>
          <p:cNvPr id="5" name="Text 3"/>
          <p:cNvSpPr/>
          <p:nvPr/>
        </p:nvSpPr>
        <p:spPr>
          <a:xfrm>
            <a:off x="6254496" y="26883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6711696" y="2542032"/>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Letting the model make the call on a diagnosis, an adjustment, a placement or a funding claim.</a:t>
            </a:r>
            <a:endParaRPr lang="en-US" sz="1400" dirty="0"/>
          </a:p>
        </p:txBody>
      </p:sp>
      <p:sp>
        <p:nvSpPr>
          <p:cNvPr id="4" name="Shape 2"/>
          <p:cNvSpPr/>
          <p:nvPr/>
        </p:nvSpPr>
        <p:spPr>
          <a:xfrm>
            <a:off x="640080" y="3474720"/>
            <a:ext cx="310896" cy="310896"/>
          </a:xfrm>
          <a:prstGeom prst="ellipse">
            <a:avLst/>
          </a:prstGeom>
          <a:solidFill>
            <a:srgbClr val="C8402F"/>
          </a:solidFill>
          <a:ln/>
        </p:spPr>
        <p:txBody>
          <a:bodyPr/>
          <a:p/>
        </p:txBody>
      </p:sp>
      <p:sp>
        <p:nvSpPr>
          <p:cNvPr id="5" name="Text 3"/>
          <p:cNvSpPr/>
          <p:nvPr/>
        </p:nvSpPr>
        <p:spPr>
          <a:xfrm>
            <a:off x="640080" y="3474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97280" y="3328415"/>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A diagnosis attached to anything that could identify the child.</a:t>
            </a:r>
            <a:endParaRPr lang="en-US" sz="1400" dirty="0"/>
          </a:p>
        </p:txBody>
      </p:sp>
      <p:sp>
        <p:nvSpPr>
          <p:cNvPr id="4" name="Shape 2"/>
          <p:cNvSpPr/>
          <p:nvPr/>
        </p:nvSpPr>
        <p:spPr>
          <a:xfrm>
            <a:off x="6254496" y="3474720"/>
            <a:ext cx="310896" cy="310896"/>
          </a:xfrm>
          <a:prstGeom prst="ellipse">
            <a:avLst/>
          </a:prstGeom>
          <a:solidFill>
            <a:srgbClr val="C8402F"/>
          </a:solidFill>
          <a:ln/>
        </p:spPr>
        <p:txBody>
          <a:bodyPr/>
          <a:p/>
        </p:txBody>
      </p:sp>
      <p:sp>
        <p:nvSpPr>
          <p:cNvPr id="5" name="Text 3"/>
          <p:cNvSpPr/>
          <p:nvPr/>
        </p:nvSpPr>
        <p:spPr>
          <a:xfrm>
            <a:off x="6254496" y="34747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6711696" y="3328415"/>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Report comments or assessment judgements submitted as your own. NESA and the IB both require the judgement to be yours.</a:t>
            </a:r>
            <a:endParaRPr lang="en-US" sz="1400" dirty="0"/>
          </a:p>
        </p:txBody>
      </p:sp>
      <p:sp>
        <p:nvSpPr>
          <p:cNvPr id="4" name="Shape 2"/>
          <p:cNvSpPr/>
          <p:nvPr/>
        </p:nvSpPr>
        <p:spPr>
          <a:xfrm>
            <a:off x="640080" y="4261104"/>
            <a:ext cx="310896" cy="310896"/>
          </a:xfrm>
          <a:prstGeom prst="ellipse">
            <a:avLst/>
          </a:prstGeom>
          <a:solidFill>
            <a:srgbClr val="C8402F"/>
          </a:solidFill>
          <a:ln/>
        </p:spPr>
        <p:txBody>
          <a:bodyPr/>
          <a:p/>
        </p:txBody>
      </p:sp>
      <p:sp>
        <p:nvSpPr>
          <p:cNvPr id="5" name="Text 3"/>
          <p:cNvSpPr/>
          <p:nvPr/>
        </p:nvSpPr>
        <p:spPr>
          <a:xfrm>
            <a:off x="640080" y="4261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097280" y="4114800"/>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Full ILPs, PLPs, NCCD evidence, case-meeting minutes or parent emails pasted in verbatim.</a:t>
            </a:r>
            <a:endParaRPr lang="en-US" sz="1400" dirty="0"/>
          </a:p>
        </p:txBody>
      </p:sp>
      <p:sp>
        <p:nvSpPr>
          <p:cNvPr id="4" name="Shape 2"/>
          <p:cNvSpPr/>
          <p:nvPr/>
        </p:nvSpPr>
        <p:spPr>
          <a:xfrm>
            <a:off x="6254496" y="4261104"/>
            <a:ext cx="310896" cy="310896"/>
          </a:xfrm>
          <a:prstGeom prst="ellipse">
            <a:avLst/>
          </a:prstGeom>
          <a:solidFill>
            <a:srgbClr val="C8402F"/>
          </a:solidFill>
          <a:ln/>
        </p:spPr>
        <p:txBody>
          <a:bodyPr/>
          <a:p/>
        </p:txBody>
      </p:sp>
      <p:sp>
        <p:nvSpPr>
          <p:cNvPr id="5" name="Text 3"/>
          <p:cNvSpPr/>
          <p:nvPr/>
        </p:nvSpPr>
        <p:spPr>
          <a:xfrm>
            <a:off x="6254496" y="42611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6711696" y="4114800"/>
            <a:ext cx="4837176" cy="749808"/>
          </a:xfrm>
          <a:prstGeom prst="rect">
            <a:avLst/>
          </a:prstGeom>
          <a:noFill/>
          <a:ln/>
        </p:spPr>
        <p:txBody>
          <a:bodyPr wrap="square" lIns="0" tIns="0" rIns="0" bIns="0" rtlCol="0" anchor="t"/>
          <a:lstStyle/>
          <a:p>
            <a:pPr indent="0" marL="0">
              <a:lnSpc>
                <a:spcPct val="122000"/>
              </a:lnSpc>
              <a:buNone/>
            </a:pPr>
            <a:r>
              <a:rPr lang="en-US" sz="1400" dirty="0">
                <a:solidFill>
                  <a:srgbClr val="E8E8E4"/>
                </a:solidFill>
                <a:latin typeface="Calibri" pitchFamily="34" charset="0"/>
                <a:ea typeface="Calibri" pitchFamily="34" charset="-122"/>
                <a:cs typeface="Calibri" pitchFamily="34" charset="-120"/>
              </a:rPr>
              <a:t>Pasting AI text into a formal document without rewriting it as your own professional judgement.</a:t>
            </a:r>
            <a:endParaRPr lang="en-US" sz="1400" dirty="0"/>
          </a:p>
        </p:txBody>
      </p:sp>
      <p:sp>
        <p:nvSpPr>
          <p:cNvPr id="25" name="Shape 23"/>
          <p:cNvSpPr/>
          <p:nvPr/>
        </p:nvSpPr>
        <p:spPr>
          <a:xfrm>
            <a:off x="640080" y="5138928"/>
            <a:ext cx="10908792" cy="1170432"/>
          </a:xfrm>
          <a:prstGeom prst="roundRect">
            <a:avLst>
              <a:gd name="adj" fmla="val 4255"/>
            </a:avLst>
          </a:prstGeom>
          <a:solidFill>
            <a:srgbClr val="26292D"/>
          </a:solidFill>
          <a:ln w="19050">
            <a:solidFill>
              <a:srgbClr val="F5C518"/>
            </a:solidFill>
            <a:prstDash val="solid"/>
          </a:ln>
        </p:spPr>
        <p:txBody>
          <a:bodyPr/>
          <a:p/>
        </p:txBody>
      </p:sp>
      <p:sp>
        <p:nvSpPr>
          <p:cNvPr id="26" name="Text 24"/>
          <p:cNvSpPr/>
          <p:nvPr/>
        </p:nvSpPr>
        <p:spPr>
          <a:xfrm>
            <a:off x="1051560" y="5321808"/>
            <a:ext cx="5394960" cy="822960"/>
          </a:xfrm>
          <a:prstGeom prst="rect">
            <a:avLst/>
          </a:prstGeom>
          <a:noFill/>
          <a:ln/>
        </p:spPr>
        <p:txBody>
          <a:bodyPr wrap="square" lIns="0" tIns="0" rIns="0" bIns="0" rtlCol="0" anchor="t"/>
          <a:lstStyle/>
          <a:p>
            <a:pPr indent="0" marL="0">
              <a:lnSpc>
                <a:spcPct val="115000"/>
              </a:lnSpc>
              <a:buNone/>
            </a:pPr>
            <a:r>
              <a:rPr lang="en-US" sz="1700" b="1" dirty="0">
                <a:solidFill>
                  <a:srgbClr val="F5C518"/>
                </a:solidFill>
                <a:latin typeface="Arial" pitchFamily="34" charset="0"/>
                <a:ea typeface="Arial" pitchFamily="34" charset="-122"/>
                <a:cs typeface="Arial" pitchFamily="34" charset="-120"/>
              </a:rPr>
              <a:t>If you catch yourself typing “is it okay if I just…”, the answer is no.</a:t>
            </a:r>
            <a:endParaRPr lang="en-US" sz="1700" dirty="0"/>
          </a:p>
        </p:txBody>
      </p:sp>
      <p:sp>
        <p:nvSpPr>
          <p:cNvPr id="27" name="Text 25"/>
          <p:cNvSpPr/>
          <p:nvPr/>
        </p:nvSpPr>
        <p:spPr>
          <a:xfrm>
            <a:off x="6711696" y="5358384"/>
            <a:ext cx="4663440" cy="777240"/>
          </a:xfrm>
          <a:prstGeom prst="rect">
            <a:avLst/>
          </a:prstGeom>
          <a:noFill/>
          <a:ln/>
        </p:spPr>
        <p:txBody>
          <a:bodyPr wrap="square" lIns="0" tIns="0" rIns="0" bIns="0" rtlCol="0" anchor="t"/>
          <a:lstStyle/>
          <a:p>
            <a:pPr indent="0" marL="0">
              <a:lnSpc>
                <a:spcPct val="125000"/>
              </a:lnSpc>
              <a:buNone/>
            </a:pPr>
            <a:r>
              <a:rPr lang="en-US" sz="1350" dirty="0">
                <a:solidFill>
                  <a:srgbClr val="9AA0A6"/>
                </a:solidFill>
                <a:latin typeface="Calibri" pitchFamily="34" charset="0"/>
                <a:ea typeface="Calibri" pitchFamily="34" charset="-122"/>
                <a:cs typeface="Calibri" pitchFamily="34" charset="-120"/>
              </a:rPr>
              <a:t>Close the tab and ask your privacy or IT lead. That conversation takes two minutes. The other one takes a term.</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548640"/>
            <a:ext cx="10972800" cy="292608"/>
          </a:xfrm>
          <a:prstGeom prst="rect">
            <a:avLst/>
          </a:prstGeom>
          <a:noFill/>
          <a:ln/>
        </p:spPr>
        <p:txBody>
          <a:bodyPr wrap="square" lIns="0" tIns="0" rIns="0" bIns="0" rtlCol="0" anchor="ctr"/>
          <a:lstStyle/>
          <a:p>
            <a:pPr indent="0" marL="0">
              <a:buNone/>
            </a:pPr>
            <a:r>
              <a:rPr lang="en-US" sz="1200" b="1" spc="300" kern="0" dirty="0">
                <a:solidFill>
                  <a:srgbClr val="F5C518"/>
                </a:solidFill>
                <a:latin typeface="Arial" pitchFamily="34" charset="0"/>
                <a:ea typeface="Arial" pitchFamily="34" charset="-122"/>
                <a:cs typeface="Arial" pitchFamily="34" charset="-120"/>
              </a:rPr>
              <a:t>BEFORE YOU LEAVE</a:t>
            </a:r>
            <a:endParaRPr lang="en-US" sz="1200" dirty="0"/>
          </a:p>
        </p:txBody>
      </p:sp>
      <p:sp>
        <p:nvSpPr>
          <p:cNvPr id="3" name="Text 1"/>
          <p:cNvSpPr/>
          <p:nvPr/>
        </p:nvSpPr>
        <p:spPr>
          <a:xfrm>
            <a:off x="640080" y="914400"/>
            <a:ext cx="10972800" cy="68580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Five minutes. Right now.</a:t>
            </a:r>
            <a:endParaRPr lang="en-US" sz="3400" dirty="0"/>
          </a:p>
        </p:txBody>
      </p:sp>
      <p:sp>
        <p:nvSpPr>
          <p:cNvPr id="4" name="Shape 2"/>
          <p:cNvSpPr/>
          <p:nvPr/>
        </p:nvSpPr>
        <p:spPr>
          <a:xfrm>
            <a:off x="685800" y="1947672"/>
            <a:ext cx="384048" cy="384048"/>
          </a:xfrm>
          <a:prstGeom prst="ellipse">
            <a:avLst/>
          </a:prstGeom>
          <a:solidFill>
            <a:srgbClr val="F5C518"/>
          </a:solidFill>
          <a:ln/>
        </p:spPr>
        <p:txBody>
          <a:bodyPr/>
          <a:p/>
        </p:txBody>
      </p:sp>
      <p:sp>
        <p:nvSpPr>
          <p:cNvPr id="5" name="Text 3"/>
          <p:cNvSpPr/>
          <p:nvPr/>
        </p:nvSpPr>
        <p:spPr>
          <a:xfrm>
            <a:off x="685800" y="1947672"/>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261872" y="1920240"/>
            <a:ext cx="630936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Open Copilot Chat. Check you're on your school account.</a:t>
            </a:r>
            <a:endParaRPr lang="en-US" sz="1450" dirty="0"/>
          </a:p>
        </p:txBody>
      </p:sp>
      <p:sp>
        <p:nvSpPr>
          <p:cNvPr id="7" name="Shape 5"/>
          <p:cNvSpPr/>
          <p:nvPr/>
        </p:nvSpPr>
        <p:spPr>
          <a:xfrm>
            <a:off x="685800" y="2551176"/>
            <a:ext cx="384048" cy="384048"/>
          </a:xfrm>
          <a:prstGeom prst="ellipse">
            <a:avLst/>
          </a:prstGeom>
          <a:solidFill>
            <a:srgbClr val="F5C518"/>
          </a:solidFill>
          <a:ln/>
        </p:spPr>
        <p:txBody>
          <a:bodyPr/>
          <a:p/>
        </p:txBody>
      </p:sp>
      <p:sp>
        <p:nvSpPr>
          <p:cNvPr id="8" name="Text 6"/>
          <p:cNvSpPr/>
          <p:nvPr/>
        </p:nvSpPr>
        <p:spPr>
          <a:xfrm>
            <a:off x="685800" y="2551176"/>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2</a:t>
            </a:r>
            <a:endParaRPr lang="en-US" sz="1300" dirty="0"/>
          </a:p>
        </p:txBody>
      </p:sp>
      <p:sp>
        <p:nvSpPr>
          <p:cNvPr id="9" name="Text 7"/>
          <p:cNvSpPr/>
          <p:nvPr/>
        </p:nvSpPr>
        <p:spPr>
          <a:xfrm>
            <a:off x="1261872" y="2523744"/>
            <a:ext cx="630936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Take a task you're already setting next week. Retype it, no names.</a:t>
            </a:r>
            <a:endParaRPr lang="en-US" sz="1450" dirty="0"/>
          </a:p>
        </p:txBody>
      </p:sp>
      <p:sp>
        <p:nvSpPr>
          <p:cNvPr id="10" name="Shape 8"/>
          <p:cNvSpPr/>
          <p:nvPr/>
        </p:nvSpPr>
        <p:spPr>
          <a:xfrm>
            <a:off x="685800" y="3154680"/>
            <a:ext cx="384048" cy="384048"/>
          </a:xfrm>
          <a:prstGeom prst="ellipse">
            <a:avLst/>
          </a:prstGeom>
          <a:solidFill>
            <a:srgbClr val="F5C518"/>
          </a:solidFill>
          <a:ln/>
        </p:spPr>
        <p:txBody>
          <a:bodyPr/>
          <a:p/>
        </p:txBody>
      </p:sp>
      <p:sp>
        <p:nvSpPr>
          <p:cNvPr id="11" name="Text 9"/>
          <p:cNvSpPr/>
          <p:nvPr/>
        </p:nvSpPr>
        <p:spPr>
          <a:xfrm>
            <a:off x="685800" y="3154680"/>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3</a:t>
            </a:r>
            <a:endParaRPr lang="en-US" sz="1300" dirty="0"/>
          </a:p>
        </p:txBody>
      </p:sp>
      <p:sp>
        <p:nvSpPr>
          <p:cNvPr id="12" name="Text 10"/>
          <p:cNvSpPr/>
          <p:nvPr/>
        </p:nvSpPr>
        <p:spPr>
          <a:xfrm>
            <a:off x="1261872" y="3127248"/>
            <a:ext cx="630936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Run the crash-test prompt: make it fail as the student, before it fixes anything.</a:t>
            </a:r>
            <a:endParaRPr lang="en-US" sz="1450" dirty="0"/>
          </a:p>
        </p:txBody>
      </p:sp>
      <p:sp>
        <p:nvSpPr>
          <p:cNvPr id="13" name="Shape 11"/>
          <p:cNvSpPr/>
          <p:nvPr/>
        </p:nvSpPr>
        <p:spPr>
          <a:xfrm>
            <a:off x="685800" y="3758184"/>
            <a:ext cx="384048" cy="384048"/>
          </a:xfrm>
          <a:prstGeom prst="ellipse">
            <a:avLst/>
          </a:prstGeom>
          <a:solidFill>
            <a:srgbClr val="F5C518"/>
          </a:solidFill>
          <a:ln/>
        </p:spPr>
        <p:txBody>
          <a:bodyPr/>
          <a:p/>
        </p:txBody>
      </p:sp>
      <p:sp>
        <p:nvSpPr>
          <p:cNvPr id="14" name="Text 12"/>
          <p:cNvSpPr/>
          <p:nvPr/>
        </p:nvSpPr>
        <p:spPr>
          <a:xfrm>
            <a:off x="685800" y="3758184"/>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1261872" y="3730752"/>
            <a:ext cx="630936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Ask for three adjustments, ranked by least disruption.</a:t>
            </a:r>
            <a:endParaRPr lang="en-US" sz="1450" dirty="0"/>
          </a:p>
        </p:txBody>
      </p:sp>
      <p:sp>
        <p:nvSpPr>
          <p:cNvPr id="16" name="Shape 14"/>
          <p:cNvSpPr/>
          <p:nvPr/>
        </p:nvSpPr>
        <p:spPr>
          <a:xfrm>
            <a:off x="685800" y="4361688"/>
            <a:ext cx="384048" cy="384048"/>
          </a:xfrm>
          <a:prstGeom prst="ellipse">
            <a:avLst/>
          </a:prstGeom>
          <a:solidFill>
            <a:srgbClr val="F5C518"/>
          </a:solidFill>
          <a:ln/>
        </p:spPr>
        <p:txBody>
          <a:bodyPr/>
          <a:p/>
        </p:txBody>
      </p:sp>
      <p:sp>
        <p:nvSpPr>
          <p:cNvPr id="17" name="Text 15"/>
          <p:cNvSpPr/>
          <p:nvPr/>
        </p:nvSpPr>
        <p:spPr>
          <a:xfrm>
            <a:off x="685800" y="4361688"/>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5</a:t>
            </a:r>
            <a:endParaRPr lang="en-US" sz="1300" dirty="0"/>
          </a:p>
        </p:txBody>
      </p:sp>
      <p:sp>
        <p:nvSpPr>
          <p:cNvPr id="18" name="Text 16"/>
          <p:cNvSpPr/>
          <p:nvPr/>
        </p:nvSpPr>
        <p:spPr>
          <a:xfrm>
            <a:off x="1261872" y="4334256"/>
            <a:ext cx="630936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Bin two. Keep one. Make it yours.</a:t>
            </a:r>
            <a:endParaRPr lang="en-US" sz="1450" dirty="0"/>
          </a:p>
        </p:txBody>
      </p:sp>
      <p:sp>
        <p:nvSpPr>
          <p:cNvPr id="19" name="Shape 17"/>
          <p:cNvSpPr/>
          <p:nvPr/>
        </p:nvSpPr>
        <p:spPr>
          <a:xfrm>
            <a:off x="7635240" y="1920240"/>
            <a:ext cx="3913632" cy="3090672"/>
          </a:xfrm>
          <a:prstGeom prst="roundRect">
            <a:avLst>
              <a:gd name="adj" fmla="val 3175"/>
            </a:avLst>
          </a:prstGeom>
          <a:solidFill>
            <a:srgbClr val="26292D"/>
          </a:solidFill>
          <a:ln w="12700">
            <a:solidFill>
              <a:srgbClr val="3A3E43"/>
            </a:solidFill>
            <a:prstDash val="solid"/>
          </a:ln>
        </p:spPr>
        <p:txBody>
          <a:bodyPr/>
          <a:p/>
        </p:txBody>
      </p:sp>
      <p:sp>
        <p:nvSpPr>
          <p:cNvPr id="20" name="Text 18"/>
          <p:cNvSpPr/>
          <p:nvPr/>
        </p:nvSpPr>
        <p:spPr>
          <a:xfrm>
            <a:off x="8001000" y="2148840"/>
            <a:ext cx="3182112" cy="256032"/>
          </a:xfrm>
          <a:prstGeom prst="rect">
            <a:avLst/>
          </a:prstGeom>
          <a:noFill/>
          <a:ln/>
        </p:spPr>
        <p:txBody>
          <a:bodyPr wrap="square" lIns="0" tIns="0" rIns="0" bIns="0" rtlCol="0" anchor="ctr"/>
          <a:lstStyle/>
          <a:p>
            <a:pPr indent="0" marL="0">
              <a:buNone/>
            </a:pPr>
            <a:r>
              <a:rPr lang="en-US" sz="1100" b="1" spc="200" kern="0" dirty="0">
                <a:solidFill>
                  <a:srgbClr val="F5C518"/>
                </a:solidFill>
                <a:latin typeface="Arial" pitchFamily="34" charset="0"/>
                <a:ea typeface="Arial" pitchFamily="34" charset="-122"/>
                <a:cs typeface="Arial" pitchFamily="34" charset="-120"/>
              </a:rPr>
              <a:t>TAKE-HOME</a:t>
            </a:r>
            <a:endParaRPr lang="en-US" sz="1100" dirty="0"/>
          </a:p>
        </p:txBody>
      </p:sp>
      <p:sp>
        <p:nvSpPr>
          <p:cNvPr id="21" name="Text 19"/>
          <p:cNvSpPr/>
          <p:nvPr/>
        </p:nvSpPr>
        <p:spPr>
          <a:xfrm>
            <a:off x="8001000" y="2505456"/>
            <a:ext cx="3182112" cy="1325880"/>
          </a:xfrm>
          <a:prstGeom prst="rect">
            <a:avLst/>
          </a:prstGeom>
          <a:noFill/>
          <a:ln/>
        </p:spPr>
        <p:txBody>
          <a:bodyPr wrap="square" lIns="0" tIns="0" rIns="0" bIns="0" rtlCol="0" anchor="t"/>
          <a:lstStyle/>
          <a:p>
            <a:pPr marL="342900" indent="-342900">
              <a:lnSpc>
                <a:spcPct val="115000"/>
              </a:lnSpc>
              <a:spcAft>
                <a:spcPts val="200"/>
              </a:spcAft>
              <a:buSzPct val="100000"/>
              <a:buChar char="•"/>
            </a:pPr>
            <a:r>
              <a:rPr lang="en-US" sz="1350" b="1" dirty="0">
                <a:solidFill>
                  <a:srgbClr val="FFFFFF"/>
                </a:solidFill>
                <a:latin typeface="Calibri" pitchFamily="34" charset="0"/>
                <a:ea typeface="Calibri" pitchFamily="34" charset="-122"/>
                <a:cs typeface="Calibri" pitchFamily="34" charset="-120"/>
              </a:rPr>
              <a:t>The C.O.R.E. scaffold</a:t>
            </a:r>
            <a:endParaRPr lang="en-US" sz="1350" dirty="0"/>
          </a:p>
          <a:p>
            <a:pPr marL="342900" indent="-342900">
              <a:lnSpc>
                <a:spcPct val="115000"/>
              </a:lnSpc>
              <a:spcAft>
                <a:spcPts val="200"/>
              </a:spcAft>
              <a:buSzPct val="100000"/>
              <a:buChar char="•"/>
            </a:pPr>
            <a:r>
              <a:rPr lang="en-US" sz="1350" b="1" dirty="0">
                <a:solidFill>
                  <a:srgbClr val="FFFFFF"/>
                </a:solidFill>
                <a:latin typeface="Calibri" pitchFamily="34" charset="0"/>
                <a:ea typeface="Calibri" pitchFamily="34" charset="-122"/>
                <a:cs typeface="Calibri" pitchFamily="34" charset="-120"/>
              </a:rPr>
              <a:t>The de-identify swap list</a:t>
            </a:r>
            <a:endParaRPr lang="en-US" sz="1350" dirty="0"/>
          </a:p>
          <a:p>
            <a:pPr marL="342900" indent="-342900">
              <a:lnSpc>
                <a:spcPct val="115000"/>
              </a:lnSpc>
              <a:spcAft>
                <a:spcPts val="200"/>
              </a:spcAft>
              <a:buSzPct val="100000"/>
              <a:buChar char="•"/>
            </a:pPr>
            <a:r>
              <a:rPr lang="en-US" sz="1350" b="1" dirty="0">
                <a:solidFill>
                  <a:srgbClr val="FFFFFF"/>
                </a:solidFill>
                <a:latin typeface="Calibri" pitchFamily="34" charset="0"/>
                <a:ea typeface="Calibri" pitchFamily="34" charset="-122"/>
                <a:cs typeface="Calibri" pitchFamily="34" charset="-120"/>
              </a:rPr>
              <a:t>The three-point brake check</a:t>
            </a:r>
            <a:endParaRPr lang="en-US" sz="1350" dirty="0"/>
          </a:p>
          <a:p>
            <a:pPr marL="342900" indent="-342900">
              <a:lnSpc>
                <a:spcPct val="115000"/>
              </a:lnSpc>
              <a:spcAft>
                <a:spcPts val="200"/>
              </a:spcAft>
              <a:buSzPct val="100000"/>
              <a:buChar char="•"/>
            </a:pPr>
            <a:r>
              <a:rPr lang="en-US" sz="1350" b="1" dirty="0">
                <a:solidFill>
                  <a:srgbClr val="FFFFFF"/>
                </a:solidFill>
                <a:latin typeface="Calibri" pitchFamily="34" charset="0"/>
                <a:ea typeface="Calibri" pitchFamily="34" charset="-122"/>
                <a:cs typeface="Calibri" pitchFamily="34" charset="-120"/>
              </a:rPr>
              <a:t>The red lines</a:t>
            </a:r>
            <a:endParaRPr lang="en-US" sz="1350" dirty="0"/>
          </a:p>
        </p:txBody>
      </p:sp>
      <p:sp>
        <p:nvSpPr>
          <p:cNvPr id="22" name="Shape 20"/>
          <p:cNvSpPr/>
          <p:nvPr/>
        </p:nvSpPr>
        <p:spPr>
          <a:xfrm>
            <a:off x="640080" y="5166360"/>
            <a:ext cx="10908792" cy="1097280"/>
          </a:xfrm>
          <a:prstGeom prst="roundRect">
            <a:avLst>
              <a:gd name="adj" fmla="val 8333"/>
            </a:avLst>
          </a:prstGeom>
          <a:solidFill>
            <a:srgbClr val="F5C518"/>
          </a:solidFill>
          <a:ln/>
        </p:spPr>
        <p:txBody>
          <a:bodyPr/>
          <a:p/>
        </p:txBody>
      </p:sp>
      <p:sp>
        <p:nvSpPr>
          <p:cNvPr id="23" name="Text 21"/>
          <p:cNvSpPr/>
          <p:nvPr/>
        </p:nvSpPr>
        <p:spPr>
          <a:xfrm>
            <a:off x="1097280" y="5166360"/>
            <a:ext cx="9994392" cy="1097280"/>
          </a:xfrm>
          <a:prstGeom prst="rect">
            <a:avLst/>
          </a:prstGeom>
          <a:noFill/>
          <a:ln/>
        </p:spPr>
        <p:txBody>
          <a:bodyPr wrap="square" lIns="0" tIns="0" rIns="0" bIns="0" rtlCol="0" anchor="ctr"/>
          <a:lstStyle/>
          <a:p>
            <a:pPr algn="ctr" indent="0" marL="0">
              <a:buNone/>
            </a:pPr>
            <a:r>
              <a:rPr lang="en-US" sz="1900" b="1" dirty="0">
                <a:solidFill>
                  <a:srgbClr val="1C1E21"/>
                </a:solidFill>
                <a:latin typeface="Arial" pitchFamily="34" charset="0"/>
                <a:ea typeface="Arial" pitchFamily="34" charset="-122"/>
                <a:cs typeface="Arial" pitchFamily="34" charset="-120"/>
              </a:rPr>
              <a:t>The baby is a genius. The forklift is genuinely powerful. You are the only qualified adult in the warehouse.</a:t>
            </a:r>
            <a:endParaRPr lang="en-US" sz="1900" dirty="0"/>
          </a:p>
        </p:txBody>
      </p:sp>
      <p:pic>
        <p:nvPicPr>
          <p:cNvPr id="24" name="Picture 23" descr="image.png"/>
          <p:cNvPicPr>
            <a:picLocks noChangeAspect="1"/>
          </p:cNvPicPr>
          <p:nvPr/>
        </p:nvPicPr>
        <p:blipFill>
          <a:blip r:embed="rId3"/>
          <a:stretch>
            <a:fillRect/>
          </a:stretch>
        </p:blipFill>
        <p:spPr>
          <a:xfrm>
            <a:off x="8001000" y="3913632"/>
            <a:ext cx="868680" cy="868680"/>
          </a:xfrm>
          <a:prstGeom prst="rect">
            <a:avLst/>
          </a:prstGeom>
        </p:spPr>
      </p:pic>
      <p:sp>
        <p:nvSpPr>
          <p:cNvPr id="20" name="Text 18"/>
          <p:cNvSpPr/>
          <p:nvPr/>
        </p:nvSpPr>
        <p:spPr>
          <a:xfrm>
            <a:off x="9034272" y="4059936"/>
            <a:ext cx="2286000" cy="603504"/>
          </a:xfrm>
          <a:prstGeom prst="rect">
            <a:avLst/>
          </a:prstGeom>
          <a:noFill/>
          <a:ln/>
        </p:spPr>
        <p:txBody>
          <a:bodyPr wrap="square" lIns="0" tIns="0" rIns="0" bIns="0" rtlCol="0" anchor="ctr"/>
          <a:lstStyle/>
          <a:p>
            <a:pPr indent="0" marL="0">
              <a:buNone/>
            </a:pPr>
            <a:r>
              <a:rPr lang="en-US" sz="800" b="1" spc="20" kern="0" dirty="0">
                <a:solidFill>
                  <a:srgbClr val="F5C518"/>
                </a:solidFill>
                <a:latin typeface="Arial" pitchFamily="34" charset="0"/>
                <a:ea typeface="Arial" pitchFamily="34" charset="-122"/>
                <a:cs typeface="Arial" pitchFamily="34" charset="-120"/>
              </a:rPr>
              <a:t>SCAN FOR THE ONE-PAGER</a:t>
            </a:r>
            <a:endParaRPr lang="en-US" sz="1100" dirty="0"/>
          </a:p>
          <a:p>
            <a:pPr indent="0" marL="0">
              <a:buNone/>
            </a:pPr>
            <a:r>
              <a:rPr lang="en-US" sz="800" b="1" spc="20" kern="0" dirty="0">
                <a:solidFill>
                  <a:srgbClr val="9AA0A6"/>
                </a:solidFill>
                <a:latin typeface="Arial" pitchFamily="34" charset="0"/>
                <a:ea typeface="Arial" pitchFamily="34" charset="-122"/>
                <a:cs typeface="Arial" pitchFamily="34" charset="-120"/>
              </a:rPr>
              <a:t>myaitutor.au/resources</a:t>
            </a:r>
            <a:endParaRPr lang="en-US" sz="11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C1E21"/>
        </a:solidFill>
      </p:bgPr>
    </p:bg>
    <p:spTree>
      <p:nvGrpSpPr>
        <p:cNvPr id="1" name=""/>
        <p:cNvGrpSpPr/>
        <p:nvPr/>
      </p:nvGrpSpPr>
      <p:grpSpPr/>
      <p:sp>
        <p:nvSpPr>
          <p:cNvPr id="2" name="Text 0"/>
          <p:cNvSpPr/>
          <p:nvPr/>
        </p:nvSpPr>
        <p:spPr>
          <a:xfrm>
            <a:off x="640080" y="548640"/>
            <a:ext cx="10972800" cy="292608"/>
          </a:xfrm>
          <a:prstGeom prst="rect">
            <a:avLst/>
          </a:prstGeom>
          <a:noFill/>
          <a:ln/>
        </p:spPr>
        <p:txBody>
          <a:bodyPr wrap="square" lIns="0" tIns="0" rIns="0" bIns="0" rtlCol="0" anchor="ctr"/>
          <a:lstStyle/>
          <a:p>
            <a:pPr indent="0" marL="0">
              <a:buNone/>
            </a:pPr>
            <a:r>
              <a:rPr lang="en-US" sz="1200" b="1" spc="300" kern="0" dirty="0">
                <a:solidFill>
                  <a:srgbClr val="F5C518"/>
                </a:solidFill>
                <a:latin typeface="Arial" pitchFamily="34" charset="0"/>
                <a:ea typeface="Arial" pitchFamily="34" charset="-122"/>
                <a:cs typeface="Arial" pitchFamily="34" charset="-120"/>
              </a:rPr>
              <a:t>WHEN THE BRAKES DIDN'T WORK</a:t>
            </a:r>
            <a:endParaRPr lang="en-US" sz="1200" dirty="0"/>
          </a:p>
        </p:txBody>
      </p:sp>
      <p:sp>
        <p:nvSpPr>
          <p:cNvPr id="3" name="Text 1"/>
          <p:cNvSpPr/>
          <p:nvPr/>
        </p:nvSpPr>
        <p:spPr>
          <a:xfrm>
            <a:off x="640080" y="914400"/>
            <a:ext cx="10972800" cy="685800"/>
          </a:xfrm>
          <a:prstGeom prst="rect">
            <a:avLst/>
          </a:prstGeom>
          <a:noFill/>
          <a:ln/>
        </p:spPr>
        <p:txBody>
          <a:bodyPr wrap="square" lIns="0" tIns="0" rIns="0" bIns="0" rtlCol="0" anchor="t"/>
          <a:lstStyle/>
          <a:p>
            <a:pPr indent="0" marL="0">
              <a:buNone/>
            </a:pPr>
            <a:r>
              <a:rPr lang="en-US" sz="3400" b="1" dirty="0">
                <a:solidFill>
                  <a:srgbClr val="FFFFFF"/>
                </a:solidFill>
                <a:latin typeface="Arial" pitchFamily="34" charset="0"/>
                <a:ea typeface="Arial" pitchFamily="34" charset="-122"/>
                <a:cs typeface="Arial" pitchFamily="34" charset="-120"/>
              </a:rPr>
              <a:t>You typed a real name. Here's the next ten minutes.</a:t>
            </a:r>
            <a:endParaRPr lang="en-US" sz="3400" dirty="0"/>
          </a:p>
        </p:txBody>
      </p:sp>
      <p:sp>
        <p:nvSpPr>
          <p:cNvPr id="4" name="Shape 2"/>
          <p:cNvSpPr/>
          <p:nvPr/>
        </p:nvSpPr>
        <p:spPr>
          <a:xfrm>
            <a:off x="685800" y="1965960"/>
            <a:ext cx="384048" cy="384048"/>
          </a:xfrm>
          <a:prstGeom prst="ellipse">
            <a:avLst/>
          </a:prstGeom>
          <a:solidFill>
            <a:srgbClr val="F5C518"/>
          </a:solidFill>
          <a:ln/>
        </p:spPr>
        <p:txBody>
          <a:bodyPr/>
          <a:p/>
        </p:txBody>
      </p:sp>
      <p:sp>
        <p:nvSpPr>
          <p:cNvPr id="5" name="Text 3"/>
          <p:cNvSpPr/>
          <p:nvPr/>
        </p:nvSpPr>
        <p:spPr>
          <a:xfrm>
            <a:off x="685800" y="1965960"/>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261872" y="1938528"/>
            <a:ext cx="1024128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Stop. Don't send another prompt in that thread trying to talk your way out of it.</a:t>
            </a:r>
            <a:endParaRPr lang="en-US" sz="1450" dirty="0"/>
          </a:p>
        </p:txBody>
      </p:sp>
      <p:sp>
        <p:nvSpPr>
          <p:cNvPr id="7" name="Shape 5"/>
          <p:cNvSpPr/>
          <p:nvPr/>
        </p:nvSpPr>
        <p:spPr>
          <a:xfrm>
            <a:off x="685800" y="2743200"/>
            <a:ext cx="384048" cy="384048"/>
          </a:xfrm>
          <a:prstGeom prst="ellipse">
            <a:avLst/>
          </a:prstGeom>
          <a:solidFill>
            <a:srgbClr val="F5C518"/>
          </a:solidFill>
          <a:ln/>
        </p:spPr>
        <p:txBody>
          <a:bodyPr/>
          <a:p/>
        </p:txBody>
      </p:sp>
      <p:sp>
        <p:nvSpPr>
          <p:cNvPr id="8" name="Text 6"/>
          <p:cNvSpPr/>
          <p:nvPr/>
        </p:nvSpPr>
        <p:spPr>
          <a:xfrm>
            <a:off x="685800" y="2743200"/>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2</a:t>
            </a:r>
            <a:endParaRPr lang="en-US" sz="1300" dirty="0"/>
          </a:p>
        </p:txBody>
      </p:sp>
      <p:sp>
        <p:nvSpPr>
          <p:cNvPr id="9" name="Text 7"/>
          <p:cNvSpPr/>
          <p:nvPr/>
        </p:nvSpPr>
        <p:spPr>
          <a:xfrm>
            <a:off x="1261872" y="2715768"/>
            <a:ext cx="1024128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Screenshot the thread, then write down what you entered and roughly when.</a:t>
            </a:r>
            <a:endParaRPr lang="en-US" sz="1450" dirty="0"/>
          </a:p>
        </p:txBody>
      </p:sp>
      <p:sp>
        <p:nvSpPr>
          <p:cNvPr id="10" name="Shape 8"/>
          <p:cNvSpPr/>
          <p:nvPr/>
        </p:nvSpPr>
        <p:spPr>
          <a:xfrm>
            <a:off x="685800" y="3520439"/>
            <a:ext cx="384048" cy="384048"/>
          </a:xfrm>
          <a:prstGeom prst="ellipse">
            <a:avLst/>
          </a:prstGeom>
          <a:solidFill>
            <a:srgbClr val="F5C518"/>
          </a:solidFill>
          <a:ln/>
        </p:spPr>
        <p:txBody>
          <a:bodyPr/>
          <a:p/>
        </p:txBody>
      </p:sp>
      <p:sp>
        <p:nvSpPr>
          <p:cNvPr id="11" name="Text 9"/>
          <p:cNvSpPr/>
          <p:nvPr/>
        </p:nvSpPr>
        <p:spPr>
          <a:xfrm>
            <a:off x="685800" y="3520439"/>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3</a:t>
            </a:r>
            <a:endParaRPr lang="en-US" sz="1300" dirty="0"/>
          </a:p>
        </p:txBody>
      </p:sp>
      <p:sp>
        <p:nvSpPr>
          <p:cNvPr id="12" name="Text 10"/>
          <p:cNvSpPr/>
          <p:nvPr/>
        </p:nvSpPr>
        <p:spPr>
          <a:xfrm>
            <a:off x="1261872" y="3493008"/>
            <a:ext cx="1024128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Do not quietly delete it and hope. Deleting destroys your evidence, not the record.</a:t>
            </a:r>
            <a:endParaRPr lang="en-US" sz="1450" dirty="0"/>
          </a:p>
        </p:txBody>
      </p:sp>
      <p:sp>
        <p:nvSpPr>
          <p:cNvPr id="13" name="Shape 11"/>
          <p:cNvSpPr/>
          <p:nvPr/>
        </p:nvSpPr>
        <p:spPr>
          <a:xfrm>
            <a:off x="685800" y="4297680"/>
            <a:ext cx="384048" cy="384048"/>
          </a:xfrm>
          <a:prstGeom prst="ellipse">
            <a:avLst/>
          </a:prstGeom>
          <a:solidFill>
            <a:srgbClr val="F5C518"/>
          </a:solidFill>
          <a:ln/>
        </p:spPr>
        <p:txBody>
          <a:bodyPr/>
          <a:p/>
        </p:txBody>
      </p:sp>
      <p:sp>
        <p:nvSpPr>
          <p:cNvPr id="14" name="Text 12"/>
          <p:cNvSpPr/>
          <p:nvPr/>
        </p:nvSpPr>
        <p:spPr>
          <a:xfrm>
            <a:off x="685800" y="4297680"/>
            <a:ext cx="384048" cy="384048"/>
          </a:xfrm>
          <a:prstGeom prst="rect">
            <a:avLst/>
          </a:prstGeom>
          <a:noFill/>
          <a:ln/>
        </p:spPr>
        <p:txBody>
          <a:bodyPr wrap="square" lIns="0" tIns="0" rIns="0" bIns="0" rtlCol="0" anchor="ctr"/>
          <a:lstStyle/>
          <a:p>
            <a:pPr algn="ctr" indent="0" marL="0">
              <a:buNone/>
            </a:pPr>
            <a:r>
              <a:rPr lang="en-US" sz="1300" b="1" dirty="0">
                <a:solidFill>
                  <a:srgbClr val="1C1E21"/>
                </a:solidFill>
                <a:latin typeface="Arial" pitchFamily="34" charset="0"/>
                <a:ea typeface="Arial" pitchFamily="34" charset="-122"/>
                <a:cs typeface="Arial" pitchFamily="34" charset="-120"/>
              </a:rPr>
              <a:t>4</a:t>
            </a:r>
            <a:endParaRPr lang="en-US" sz="1300" dirty="0"/>
          </a:p>
        </p:txBody>
      </p:sp>
      <p:sp>
        <p:nvSpPr>
          <p:cNvPr id="15" name="Text 13"/>
          <p:cNvSpPr/>
          <p:nvPr/>
        </p:nvSpPr>
        <p:spPr>
          <a:xfrm>
            <a:off x="1261872" y="4270248"/>
            <a:ext cx="10241280" cy="502920"/>
          </a:xfrm>
          <a:prstGeom prst="rect">
            <a:avLst/>
          </a:prstGeom>
          <a:noFill/>
          <a:ln/>
        </p:spPr>
        <p:txBody>
          <a:bodyPr wrap="square" lIns="0" tIns="0" rIns="0" bIns="0" rtlCol="0" anchor="ctr"/>
          <a:lstStyle/>
          <a:p>
            <a:pPr indent="0" marL="0">
              <a:buNone/>
            </a:pPr>
            <a:r>
              <a:rPr lang="en-US" sz="1450" dirty="0">
                <a:solidFill>
                  <a:srgbClr val="E8E8E4"/>
                </a:solidFill>
                <a:latin typeface="Calibri" pitchFamily="34" charset="0"/>
                <a:ea typeface="Calibri" pitchFamily="34" charset="-122"/>
                <a:cs typeface="Calibri" pitchFamily="34" charset="-120"/>
              </a:rPr>
              <a:t>Tell your principal or the school's privacy contact today. Whether it's a notifiable breach is their call to make, not yours.</a:t>
            </a:r>
            <a:endParaRPr lang="en-US" sz="1450" dirty="0"/>
          </a:p>
        </p:txBody>
      </p:sp>
      <p:sp>
        <p:nvSpPr>
          <p:cNvPr id="22" name="Shape 20"/>
          <p:cNvSpPr/>
          <p:nvPr/>
        </p:nvSpPr>
        <p:spPr>
          <a:xfrm>
            <a:off x="640080" y="5166360"/>
            <a:ext cx="10908792" cy="1097280"/>
          </a:xfrm>
          <a:prstGeom prst="roundRect">
            <a:avLst>
              <a:gd name="adj" fmla="val 8333"/>
            </a:avLst>
          </a:prstGeom>
          <a:solidFill>
            <a:srgbClr val="F5C518"/>
          </a:solidFill>
          <a:ln/>
        </p:spPr>
        <p:txBody>
          <a:bodyPr/>
          <a:p/>
        </p:txBody>
      </p:sp>
      <p:sp>
        <p:nvSpPr>
          <p:cNvPr id="23" name="Text 21"/>
          <p:cNvSpPr/>
          <p:nvPr/>
        </p:nvSpPr>
        <p:spPr>
          <a:xfrm>
            <a:off x="1097280" y="5166360"/>
            <a:ext cx="9994392" cy="1097280"/>
          </a:xfrm>
          <a:prstGeom prst="rect">
            <a:avLst/>
          </a:prstGeom>
          <a:noFill/>
          <a:ln/>
        </p:spPr>
        <p:txBody>
          <a:bodyPr wrap="square" lIns="0" tIns="0" rIns="0" bIns="0" rtlCol="0" anchor="ctr"/>
          <a:lstStyle/>
          <a:p>
            <a:pPr algn="ctr" indent="0" marL="0">
              <a:buNone/>
            </a:pPr>
            <a:r>
              <a:rPr lang="en-US" sz="1900" b="1" dirty="0">
                <a:solidFill>
                  <a:srgbClr val="1C1E21"/>
                </a:solidFill>
                <a:latin typeface="Arial" pitchFamily="34" charset="0"/>
                <a:ea typeface="Arial" pitchFamily="34" charset="-122"/>
                <a:cs typeface="Arial" pitchFamily="34" charset="-120"/>
              </a:rPr>
              <a:t>Reporting it the same day is a small conversation. Finding out six weeks later is not.</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There's a Genius Baby Driving Your Forklift</dc:title>
  <dc:subject>PptxGenJS Presentation</dc:subject>
  <dc:creator>Learning Support PD</dc:creator>
  <cp:lastModifiedBy>Learning Support PD</cp:lastModifiedBy>
  <cp:revision>1</cp:revision>
  <dcterms:created xsi:type="dcterms:W3CDTF">2026-07-26T23:18:23Z</dcterms:created>
  <dcterms:modified xsi:type="dcterms:W3CDTF">2026-07-26T23:18:23Z</dcterms:modified>
</cp:coreProperties>
</file>